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7" autoAdjust="0"/>
    <p:restoredTop sz="94658"/>
  </p:normalViewPr>
  <p:slideViewPr>
    <p:cSldViewPr snapToGrid="0">
      <p:cViewPr varScale="1">
        <p:scale>
          <a:sx n="150" d="100"/>
          <a:sy n="150" d="100"/>
        </p:scale>
        <p:origin x="6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6D24599-70F0-4BCC-AD81-88AF0C9F77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85C38D-B0DB-4BA0-BAA1-89CCF11DB1D3}"/>
              </a:ext>
            </a:extLst>
          </p:cNvPr>
          <p:cNvSpPr>
            <a:spLocks noGrp="1"/>
          </p:cNvSpPr>
          <p:nvPr/>
        </p:nvSpPr>
        <p:spPr>
          <a:xfrm>
            <a:off x="0" y="-9256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FB290B-9051-4B2C-979F-BB9E7D71B1D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6858000" cy="9144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9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基于 FPGA 的指纹图像方向场计算与可视化系统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33249C-0421-4401-9293-74F9693F3B6E}"/>
              </a:ext>
            </a:extLst>
          </p:cNvPr>
          <p:cNvSpPr>
            <a:spLocks noGrp="1"/>
          </p:cNvSpPr>
          <p:nvPr/>
        </p:nvSpPr>
        <p:spPr>
          <a:xfrm>
            <a:off x="590550" y="1714500"/>
            <a:ext cx="5905500" cy="3238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Sobel + CORDIC + 区域统计 + HDMI/OBS 显示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7C4995-684A-407A-A7AC-3B11C972E3B1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5334000" cy="1428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22000"/>
              </a:lnSpc>
              <a:buNone/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开发环境：Vivado 2025.2</a:t>
            </a:r>
          </a:p>
          <a:p>
            <a:pPr algn="l">
              <a:lnSpc>
                <a:spcPct val="122000"/>
              </a:lnSpc>
              <a:buNone/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目标器件：Xilinx Artix-7 XC7A75T-2FGG484</a:t>
            </a:r>
          </a:p>
          <a:p>
            <a:pPr algn="l">
              <a:lnSpc>
                <a:spcPct val="122000"/>
              </a:lnSpc>
              <a:buNone/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当前演示：3 张静态灰度指纹图像可切换</a:t>
            </a:r>
          </a:p>
          <a:p>
            <a:pPr algn="l">
              <a:lnSpc>
                <a:spcPct val="122000"/>
              </a:lnSpc>
              <a:buNone/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输出方式：HDMI-A → 采集卡 → OBS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08FAF3-B336-4028-96AC-E41E0DABB730}"/>
              </a:ext>
            </a:extLst>
          </p:cNvPr>
          <p:cNvSpPr>
            <a:spLocks noGrp="1"/>
          </p:cNvSpPr>
          <p:nvPr/>
        </p:nvSpPr>
        <p:spPr>
          <a:xfrm>
            <a:off x="571500" y="5867400"/>
            <a:ext cx="238125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课程</a:t>
            </a:r>
            <a:r>
              <a:rPr sz="1275" b="0" i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75" b="0" i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项目答辩</a:t>
            </a:r>
            <a:endParaRPr sz="1275" b="0" i="0" dirty="0">
              <a:solidFill>
                <a:srgbClr val="475569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B224DAA-5294-5D5E-6868-5D44902E3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2" y="2033856"/>
            <a:ext cx="4762581" cy="355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7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AF2FBCB-A369-4FB6-9BAD-935AD3B372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38596F-ABC1-4326-8BDB-8848E9C4DDC9}"/>
              </a:ext>
            </a:extLst>
          </p:cNvPr>
          <p:cNvSpPr>
            <a:spLocks noGrp="1"/>
          </p:cNvSpPr>
          <p:nvPr/>
        </p:nvSpPr>
        <p:spPr>
          <a:xfrm>
            <a:off x="533400" y="1395413"/>
            <a:ext cx="8953500" cy="4572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项目背景与目标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6A31CA-7378-478D-8A8D-54802B025309}"/>
              </a:ext>
            </a:extLst>
          </p:cNvPr>
          <p:cNvSpPr>
            <a:spLocks noGrp="1"/>
          </p:cNvSpPr>
          <p:nvPr/>
        </p:nvSpPr>
        <p:spPr>
          <a:xfrm>
            <a:off x="552450" y="1852613"/>
            <a:ext cx="8572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从指纹纹理中提取稳定方向场，并在 FPGA 上完成实时可视化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99F1D2-5F0C-4DE8-94DD-3266DBC28896}"/>
              </a:ext>
            </a:extLst>
          </p:cNvPr>
          <p:cNvSpPr>
            <a:spLocks noGrp="1"/>
          </p:cNvSpPr>
          <p:nvPr/>
        </p:nvSpPr>
        <p:spPr>
          <a:xfrm>
            <a:off x="533400" y="2195513"/>
            <a:ext cx="20002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80B7EA-8452-4540-A41D-947845DC8530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28625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16D4A3-5659-4A83-BFB2-3CDA150017CF}"/>
              </a:ext>
            </a:extLst>
          </p:cNvPr>
          <p:cNvSpPr>
            <a:spLocks noGrp="1"/>
          </p:cNvSpPr>
          <p:nvPr/>
        </p:nvSpPr>
        <p:spPr>
          <a:xfrm>
            <a:off x="666750" y="2671763"/>
            <a:ext cx="3333750" cy="195262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2F4350-2DD1-416D-AA52-C7BE2F4A035B}"/>
              </a:ext>
            </a:extLst>
          </p:cNvPr>
          <p:cNvSpPr>
            <a:spLocks noGrp="1"/>
          </p:cNvSpPr>
          <p:nvPr/>
        </p:nvSpPr>
        <p:spPr>
          <a:xfrm>
            <a:off x="666750" y="2671763"/>
            <a:ext cx="57150" cy="1952625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C36A95-01BC-4768-9720-0FA966252805}"/>
              </a:ext>
            </a:extLst>
          </p:cNvPr>
          <p:cNvSpPr>
            <a:spLocks noGrp="1"/>
          </p:cNvSpPr>
          <p:nvPr/>
        </p:nvSpPr>
        <p:spPr>
          <a:xfrm>
            <a:off x="876300" y="2843213"/>
            <a:ext cx="300990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为什么做方向场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4DE7D4-AD1B-41B1-9AAC-442168EE61D3}"/>
              </a:ext>
            </a:extLst>
          </p:cNvPr>
          <p:cNvSpPr>
            <a:spLocks noGrp="1"/>
          </p:cNvSpPr>
          <p:nvPr/>
        </p:nvSpPr>
        <p:spPr>
          <a:xfrm>
            <a:off x="876300" y="3205163"/>
            <a:ext cx="2990850" cy="130492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方向场描述指纹脊线的局部走向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可用于结构分析、特征区域观察和后续识别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相比单像素边缘，局部主方向更稳定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84E7EC-6D36-41A9-A750-105E5B6A69BB}"/>
              </a:ext>
            </a:extLst>
          </p:cNvPr>
          <p:cNvSpPr>
            <a:spLocks noGrp="1"/>
          </p:cNvSpPr>
          <p:nvPr/>
        </p:nvSpPr>
        <p:spPr>
          <a:xfrm>
            <a:off x="4429125" y="2671763"/>
            <a:ext cx="3333750" cy="22383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845FF-09CF-4C9C-B556-E2CF38A1811C}"/>
              </a:ext>
            </a:extLst>
          </p:cNvPr>
          <p:cNvSpPr>
            <a:spLocks noGrp="1"/>
          </p:cNvSpPr>
          <p:nvPr/>
        </p:nvSpPr>
        <p:spPr>
          <a:xfrm>
            <a:off x="4429125" y="2671763"/>
            <a:ext cx="57150" cy="2238375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FEB558-0C10-4EF7-B67A-3FB7DFE05A60}"/>
              </a:ext>
            </a:extLst>
          </p:cNvPr>
          <p:cNvSpPr>
            <a:spLocks noGrp="1"/>
          </p:cNvSpPr>
          <p:nvPr/>
        </p:nvSpPr>
        <p:spPr>
          <a:xfrm>
            <a:off x="4638675" y="2843213"/>
            <a:ext cx="300990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本项目目标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97442E-4C0F-4F75-B79A-9FD7857544AF}"/>
              </a:ext>
            </a:extLst>
          </p:cNvPr>
          <p:cNvSpPr>
            <a:spLocks noGrp="1"/>
          </p:cNvSpPr>
          <p:nvPr/>
        </p:nvSpPr>
        <p:spPr>
          <a:xfrm>
            <a:off x="4638675" y="3205163"/>
            <a:ext cx="2990850" cy="15906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输入灰度指纹图像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Sobel 提取 Gx/Gy 梯度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CORDIC 计算主方向角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区域统计生成方向场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HDMI 叠加显示方向线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78D33B0-866B-4B69-B4A2-68DA8A4BDD02}"/>
              </a:ext>
            </a:extLst>
          </p:cNvPr>
          <p:cNvSpPr>
            <a:spLocks noGrp="1"/>
          </p:cNvSpPr>
          <p:nvPr/>
        </p:nvSpPr>
        <p:spPr>
          <a:xfrm>
            <a:off x="8191500" y="2671763"/>
            <a:ext cx="3333750" cy="195262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DF3ACC-5080-42A8-8864-1E56BD9050CE}"/>
              </a:ext>
            </a:extLst>
          </p:cNvPr>
          <p:cNvSpPr>
            <a:spLocks noGrp="1"/>
          </p:cNvSpPr>
          <p:nvPr/>
        </p:nvSpPr>
        <p:spPr>
          <a:xfrm>
            <a:off x="8191500" y="2671763"/>
            <a:ext cx="57150" cy="1952625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0FC4E6-7EA2-4885-9635-EA7E11A81783}"/>
              </a:ext>
            </a:extLst>
          </p:cNvPr>
          <p:cNvSpPr>
            <a:spLocks noGrp="1"/>
          </p:cNvSpPr>
          <p:nvPr/>
        </p:nvSpPr>
        <p:spPr>
          <a:xfrm>
            <a:off x="8401050" y="2843213"/>
            <a:ext cx="300990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工程定位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5731D3-4B4A-4428-8DB2-BCC4A0E94155}"/>
              </a:ext>
            </a:extLst>
          </p:cNvPr>
          <p:cNvSpPr>
            <a:spLocks noGrp="1"/>
          </p:cNvSpPr>
          <p:nvPr/>
        </p:nvSpPr>
        <p:spPr>
          <a:xfrm>
            <a:off x="8401050" y="3205163"/>
            <a:ext cx="2990850" cy="130492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先跑通静态图像算法链路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后续输入端可替换为摄像头/DDR3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核心 Sobel、CORDIC、统计链路保持一套</a:t>
            </a:r>
          </a:p>
        </p:txBody>
      </p:sp>
    </p:spTree>
    <p:extLst>
      <p:ext uri="{BB962C8B-B14F-4D97-AF65-F5344CB8AC3E}">
        <p14:creationId xmlns:p14="http://schemas.microsoft.com/office/powerpoint/2010/main" val="166952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F351897F-94BC-48ED-BDEA-BF2B53625A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F1C5E8-50C8-4EAF-B841-6227652F7DF9}"/>
              </a:ext>
            </a:extLst>
          </p:cNvPr>
          <p:cNvSpPr>
            <a:spLocks noGrp="1"/>
          </p:cNvSpPr>
          <p:nvPr/>
        </p:nvSpPr>
        <p:spPr>
          <a:xfrm>
            <a:off x="596900" y="1409700"/>
            <a:ext cx="8953500" cy="4572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BB2E9B-3687-4B2E-BAE7-B054B5E00432}"/>
              </a:ext>
            </a:extLst>
          </p:cNvPr>
          <p:cNvSpPr>
            <a:spLocks noGrp="1"/>
          </p:cNvSpPr>
          <p:nvPr/>
        </p:nvSpPr>
        <p:spPr>
          <a:xfrm>
            <a:off x="615950" y="1866900"/>
            <a:ext cx="8572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当前为静态 ROM 输入，主处理链路按流式像素方式组织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4E3AA2-22F8-4842-AD17-14708F11704C}"/>
              </a:ext>
            </a:extLst>
          </p:cNvPr>
          <p:cNvSpPr>
            <a:spLocks noGrp="1"/>
          </p:cNvSpPr>
          <p:nvPr/>
        </p:nvSpPr>
        <p:spPr>
          <a:xfrm>
            <a:off x="596900" y="2209800"/>
            <a:ext cx="20002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56A360-DC63-405E-9E80-2FE89EF784C3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28625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BE6707-1F31-49B5-992B-C85B525150B4}"/>
              </a:ext>
            </a:extLst>
          </p:cNvPr>
          <p:cNvSpPr>
            <a:spLocks noGrp="1"/>
          </p:cNvSpPr>
          <p:nvPr/>
        </p:nvSpPr>
        <p:spPr>
          <a:xfrm>
            <a:off x="558800" y="2743200"/>
            <a:ext cx="1190625" cy="666750"/>
          </a:xfrm>
          <a:prstGeom prst="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7E1172-F925-447F-838B-320BE179C480}"/>
              </a:ext>
            </a:extLst>
          </p:cNvPr>
          <p:cNvSpPr>
            <a:spLocks noGrp="1"/>
          </p:cNvSpPr>
          <p:nvPr/>
        </p:nvSpPr>
        <p:spPr>
          <a:xfrm>
            <a:off x="654050" y="2857500"/>
            <a:ext cx="1000125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静态指纹</a:t>
            </a:r>
          </a:p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ROM 输入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FEAAB6-06F5-4219-9B79-E8CB6036A1C3}"/>
              </a:ext>
            </a:extLst>
          </p:cNvPr>
          <p:cNvSpPr>
            <a:spLocks noGrp="1"/>
          </p:cNvSpPr>
          <p:nvPr/>
        </p:nvSpPr>
        <p:spPr>
          <a:xfrm>
            <a:off x="1787525" y="2914650"/>
            <a:ext cx="304800" cy="3238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D60DBE-D0B7-4BE9-9B5E-0A8D140E99ED}"/>
              </a:ext>
            </a:extLst>
          </p:cNvPr>
          <p:cNvSpPr>
            <a:spLocks noGrp="1"/>
          </p:cNvSpPr>
          <p:nvPr/>
        </p:nvSpPr>
        <p:spPr>
          <a:xfrm>
            <a:off x="2159000" y="2743200"/>
            <a:ext cx="1381125" cy="666750"/>
          </a:xfrm>
          <a:prstGeom prst="rect">
            <a:avLst/>
          </a:prstGeom>
          <a:solidFill>
            <a:srgbClr val="FFFFFF"/>
          </a:solidFill>
          <a:ln>
            <a:solidFill>
              <a:srgbClr val="0891B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DDC23D-C88B-4416-B964-90155728F42B}"/>
              </a:ext>
            </a:extLst>
          </p:cNvPr>
          <p:cNvSpPr>
            <a:spLocks noGrp="1"/>
          </p:cNvSpPr>
          <p:nvPr/>
        </p:nvSpPr>
        <p:spPr>
          <a:xfrm>
            <a:off x="2254250" y="2857500"/>
            <a:ext cx="1190625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灰度像素流</a:t>
            </a:r>
          </a:p>
          <a:p>
            <a:pPr algn="ctr">
              <a:defRPr sz="12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valid + x/y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2F270B-EABD-4DBC-AEFD-913168B7E90C}"/>
              </a:ext>
            </a:extLst>
          </p:cNvPr>
          <p:cNvSpPr>
            <a:spLocks noGrp="1"/>
          </p:cNvSpPr>
          <p:nvPr/>
        </p:nvSpPr>
        <p:spPr>
          <a:xfrm>
            <a:off x="3568700" y="2914650"/>
            <a:ext cx="304800" cy="3238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B8A02E-1E39-4938-8EF6-46C4235D6D75}"/>
              </a:ext>
            </a:extLst>
          </p:cNvPr>
          <p:cNvSpPr>
            <a:spLocks noGrp="1"/>
          </p:cNvSpPr>
          <p:nvPr/>
        </p:nvSpPr>
        <p:spPr>
          <a:xfrm>
            <a:off x="3968750" y="2743200"/>
            <a:ext cx="1190625" cy="666750"/>
          </a:xfrm>
          <a:prstGeom prst="rect">
            <a:avLst/>
          </a:prstGeom>
          <a:solidFill>
            <a:srgbClr val="FFFFFF"/>
          </a:solidFill>
          <a:ln>
            <a:solidFill>
              <a:srgbClr val="0891B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0832E3-5FAE-4109-8735-BE7DDC4AB08B}"/>
              </a:ext>
            </a:extLst>
          </p:cNvPr>
          <p:cNvSpPr>
            <a:spLocks noGrp="1"/>
          </p:cNvSpPr>
          <p:nvPr/>
        </p:nvSpPr>
        <p:spPr>
          <a:xfrm>
            <a:off x="4064000" y="2857500"/>
            <a:ext cx="1000125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3×3 窗口</a:t>
            </a:r>
          </a:p>
          <a:p>
            <a:pPr algn="ctr">
              <a:defRPr sz="12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4D0906-A6C0-4CFA-8DE9-E108BD6BA97B}"/>
              </a:ext>
            </a:extLst>
          </p:cNvPr>
          <p:cNvSpPr>
            <a:spLocks noGrp="1"/>
          </p:cNvSpPr>
          <p:nvPr/>
        </p:nvSpPr>
        <p:spPr>
          <a:xfrm>
            <a:off x="5187950" y="2914650"/>
            <a:ext cx="304800" cy="3238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282D0B-C1E1-4594-8C28-0F19D6BCA6A7}"/>
              </a:ext>
            </a:extLst>
          </p:cNvPr>
          <p:cNvSpPr>
            <a:spLocks noGrp="1"/>
          </p:cNvSpPr>
          <p:nvPr/>
        </p:nvSpPr>
        <p:spPr>
          <a:xfrm>
            <a:off x="5588000" y="2743200"/>
            <a:ext cx="1143000" cy="666750"/>
          </a:xfrm>
          <a:prstGeom prst="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3B51BD-BD6B-4E97-8867-A819DEB03C26}"/>
              </a:ext>
            </a:extLst>
          </p:cNvPr>
          <p:cNvSpPr>
            <a:spLocks noGrp="1"/>
          </p:cNvSpPr>
          <p:nvPr/>
        </p:nvSpPr>
        <p:spPr>
          <a:xfrm>
            <a:off x="5683250" y="2857500"/>
            <a:ext cx="952500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Sobel</a:t>
            </a:r>
          </a:p>
          <a:p>
            <a:pPr algn="ctr">
              <a:defRPr sz="12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Gx / Gy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7F82BC-2E5D-4051-971A-D19FAC2CD13B}"/>
              </a:ext>
            </a:extLst>
          </p:cNvPr>
          <p:cNvSpPr>
            <a:spLocks noGrp="1"/>
          </p:cNvSpPr>
          <p:nvPr/>
        </p:nvSpPr>
        <p:spPr>
          <a:xfrm>
            <a:off x="6769100" y="2914650"/>
            <a:ext cx="304800" cy="3238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707A01E-B0C5-4EB1-B9D6-FC3ABF8240B0}"/>
              </a:ext>
            </a:extLst>
          </p:cNvPr>
          <p:cNvSpPr>
            <a:spLocks noGrp="1"/>
          </p:cNvSpPr>
          <p:nvPr/>
        </p:nvSpPr>
        <p:spPr>
          <a:xfrm>
            <a:off x="7188200" y="2743200"/>
            <a:ext cx="1219200" cy="666750"/>
          </a:xfrm>
          <a:prstGeom prst="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801823-AD28-4DC2-9CE8-9DF88B1DACC9}"/>
              </a:ext>
            </a:extLst>
          </p:cNvPr>
          <p:cNvSpPr>
            <a:spLocks noGrp="1"/>
          </p:cNvSpPr>
          <p:nvPr/>
        </p:nvSpPr>
        <p:spPr>
          <a:xfrm>
            <a:off x="7283450" y="2857500"/>
            <a:ext cx="1028700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脊线切向</a:t>
            </a:r>
          </a:p>
          <a:p>
            <a:pPr algn="ctr">
              <a:defRPr sz="12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转换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80D9AD-213B-4E1B-9027-84DD5DE5ED9B}"/>
              </a:ext>
            </a:extLst>
          </p:cNvPr>
          <p:cNvSpPr>
            <a:spLocks noGrp="1"/>
          </p:cNvSpPr>
          <p:nvPr/>
        </p:nvSpPr>
        <p:spPr>
          <a:xfrm>
            <a:off x="8445500" y="2914650"/>
            <a:ext cx="304800" cy="3238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BA60AF-8A24-4764-AA08-4C06A8FAD374}"/>
              </a:ext>
            </a:extLst>
          </p:cNvPr>
          <p:cNvSpPr>
            <a:spLocks noGrp="1"/>
          </p:cNvSpPr>
          <p:nvPr/>
        </p:nvSpPr>
        <p:spPr>
          <a:xfrm>
            <a:off x="8864600" y="2743200"/>
            <a:ext cx="1238250" cy="666750"/>
          </a:xfrm>
          <a:prstGeom prst="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F1714FB-B566-4119-A497-250BD7E98797}"/>
              </a:ext>
            </a:extLst>
          </p:cNvPr>
          <p:cNvSpPr>
            <a:spLocks noGrp="1"/>
          </p:cNvSpPr>
          <p:nvPr/>
        </p:nvSpPr>
        <p:spPr>
          <a:xfrm>
            <a:off x="8959850" y="2857500"/>
            <a:ext cx="1047750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8×8 tensor</a:t>
            </a:r>
          </a:p>
          <a:p>
            <a:pPr algn="ctr">
              <a:def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统计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6888FF7-4F81-495D-BB79-EB01A0BCCE56}"/>
              </a:ext>
            </a:extLst>
          </p:cNvPr>
          <p:cNvSpPr>
            <a:spLocks noGrp="1"/>
          </p:cNvSpPr>
          <p:nvPr/>
        </p:nvSpPr>
        <p:spPr>
          <a:xfrm>
            <a:off x="10140950" y="2914650"/>
            <a:ext cx="304800" cy="3238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3BF58CD-40D0-4DD2-A02C-EFAD95992D2F}"/>
              </a:ext>
            </a:extLst>
          </p:cNvPr>
          <p:cNvSpPr>
            <a:spLocks noGrp="1"/>
          </p:cNvSpPr>
          <p:nvPr/>
        </p:nvSpPr>
        <p:spPr>
          <a:xfrm>
            <a:off x="10560050" y="2743200"/>
            <a:ext cx="1143000" cy="66675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BF31513-22AB-4AB1-B4D2-D2E564DDBBE6}"/>
              </a:ext>
            </a:extLst>
          </p:cNvPr>
          <p:cNvSpPr>
            <a:spLocks noGrp="1"/>
          </p:cNvSpPr>
          <p:nvPr/>
        </p:nvSpPr>
        <p:spPr>
          <a:xfrm>
            <a:off x="10655300" y="2857500"/>
            <a:ext cx="952500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CORDIC</a:t>
            </a:r>
          </a:p>
          <a:p>
            <a:pPr algn="ctr">
              <a:def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方向角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093D97-D2F4-4162-BCB0-A9BA38515C24}"/>
              </a:ext>
            </a:extLst>
          </p:cNvPr>
          <p:cNvSpPr>
            <a:spLocks noGrp="1"/>
          </p:cNvSpPr>
          <p:nvPr/>
        </p:nvSpPr>
        <p:spPr>
          <a:xfrm>
            <a:off x="10874375" y="3638550"/>
            <a:ext cx="38100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22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6300DC0-8025-4530-8562-9531D95DD40E}"/>
              </a:ext>
            </a:extLst>
          </p:cNvPr>
          <p:cNvSpPr>
            <a:spLocks noGrp="1"/>
          </p:cNvSpPr>
          <p:nvPr/>
        </p:nvSpPr>
        <p:spPr>
          <a:xfrm>
            <a:off x="9731375" y="4229100"/>
            <a:ext cx="1190625" cy="66675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EDAE4FA-7DF2-459A-951E-917BF484BADC}"/>
              </a:ext>
            </a:extLst>
          </p:cNvPr>
          <p:cNvSpPr>
            <a:spLocks noGrp="1"/>
          </p:cNvSpPr>
          <p:nvPr/>
        </p:nvSpPr>
        <p:spPr>
          <a:xfrm>
            <a:off x="9826625" y="4343400"/>
            <a:ext cx="1000125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方向量化</a:t>
            </a:r>
          </a:p>
          <a:p>
            <a:pPr algn="ctr">
              <a:def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8 bins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A6205A4-7F3C-4017-81DA-156DE47CA907}"/>
              </a:ext>
            </a:extLst>
          </p:cNvPr>
          <p:cNvSpPr>
            <a:spLocks noGrp="1"/>
          </p:cNvSpPr>
          <p:nvPr/>
        </p:nvSpPr>
        <p:spPr>
          <a:xfrm>
            <a:off x="9178925" y="4400550"/>
            <a:ext cx="38100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21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06FC007-CC06-493D-9234-BA452700DDBD}"/>
              </a:ext>
            </a:extLst>
          </p:cNvPr>
          <p:cNvSpPr>
            <a:spLocks noGrp="1"/>
          </p:cNvSpPr>
          <p:nvPr/>
        </p:nvSpPr>
        <p:spPr>
          <a:xfrm>
            <a:off x="7588250" y="4229100"/>
            <a:ext cx="1428750" cy="666750"/>
          </a:xfrm>
          <a:prstGeom prst="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31711CF-B23A-4EB5-94D8-BF9CDD8F7557}"/>
              </a:ext>
            </a:extLst>
          </p:cNvPr>
          <p:cNvSpPr>
            <a:spLocks noGrp="1"/>
          </p:cNvSpPr>
          <p:nvPr/>
        </p:nvSpPr>
        <p:spPr>
          <a:xfrm>
            <a:off x="7683500" y="4343400"/>
            <a:ext cx="1238250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32×32</a:t>
            </a:r>
          </a:p>
          <a:p>
            <a:pPr algn="ctr">
              <a:def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方向场缓存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4E64F04-0BD9-44DB-A4E5-4F5941B0EE05}"/>
              </a:ext>
            </a:extLst>
          </p:cNvPr>
          <p:cNvSpPr>
            <a:spLocks noGrp="1"/>
          </p:cNvSpPr>
          <p:nvPr/>
        </p:nvSpPr>
        <p:spPr>
          <a:xfrm>
            <a:off x="7016750" y="4400550"/>
            <a:ext cx="38100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21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6B3B983-7F17-43C1-94D7-B05FA7A0ABBE}"/>
              </a:ext>
            </a:extLst>
          </p:cNvPr>
          <p:cNvSpPr>
            <a:spLocks noGrp="1"/>
          </p:cNvSpPr>
          <p:nvPr/>
        </p:nvSpPr>
        <p:spPr>
          <a:xfrm>
            <a:off x="5397500" y="4229100"/>
            <a:ext cx="1381125" cy="666750"/>
          </a:xfrm>
          <a:prstGeom prst="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5E6AA74-1138-4A42-B39B-BB1B8175CBBB}"/>
              </a:ext>
            </a:extLst>
          </p:cNvPr>
          <p:cNvSpPr>
            <a:spLocks noGrp="1"/>
          </p:cNvSpPr>
          <p:nvPr/>
        </p:nvSpPr>
        <p:spPr>
          <a:xfrm>
            <a:off x="5492750" y="4343400"/>
            <a:ext cx="1190625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HDMI 方向线</a:t>
            </a:r>
          </a:p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渲染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74C7347-CE3B-4E41-B364-F3E627969E11}"/>
              </a:ext>
            </a:extLst>
          </p:cNvPr>
          <p:cNvSpPr>
            <a:spLocks noGrp="1"/>
          </p:cNvSpPr>
          <p:nvPr/>
        </p:nvSpPr>
        <p:spPr>
          <a:xfrm>
            <a:off x="4826000" y="4400550"/>
            <a:ext cx="38100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21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4EB606E-527A-4C42-81B1-6156E9FDDB82}"/>
              </a:ext>
            </a:extLst>
          </p:cNvPr>
          <p:cNvSpPr>
            <a:spLocks noGrp="1"/>
          </p:cNvSpPr>
          <p:nvPr/>
        </p:nvSpPr>
        <p:spPr>
          <a:xfrm>
            <a:off x="3397250" y="4229100"/>
            <a:ext cx="1190625" cy="666750"/>
          </a:xfrm>
          <a:prstGeom prst="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91FC9A4-75B9-452C-97C8-5A8E5F58E025}"/>
              </a:ext>
            </a:extLst>
          </p:cNvPr>
          <p:cNvSpPr>
            <a:spLocks noGrp="1"/>
          </p:cNvSpPr>
          <p:nvPr/>
        </p:nvSpPr>
        <p:spPr>
          <a:xfrm>
            <a:off x="3492500" y="4343400"/>
            <a:ext cx="1000125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TMDS HDMI</a:t>
            </a:r>
          </a:p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3D968A-C365-4F32-9CF3-60B2843FFADA}"/>
              </a:ext>
            </a:extLst>
          </p:cNvPr>
          <p:cNvSpPr>
            <a:spLocks noGrp="1"/>
          </p:cNvSpPr>
          <p:nvPr/>
        </p:nvSpPr>
        <p:spPr>
          <a:xfrm>
            <a:off x="2844800" y="4400550"/>
            <a:ext cx="38100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21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08A0D68-FAFA-40E6-9CC8-83AAAC773BCB}"/>
              </a:ext>
            </a:extLst>
          </p:cNvPr>
          <p:cNvSpPr>
            <a:spLocks noGrp="1"/>
          </p:cNvSpPr>
          <p:nvPr/>
        </p:nvSpPr>
        <p:spPr>
          <a:xfrm>
            <a:off x="1320800" y="4229100"/>
            <a:ext cx="1285875" cy="66675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8A1AB76-FC17-444E-BF5A-957EB981EA1C}"/>
              </a:ext>
            </a:extLst>
          </p:cNvPr>
          <p:cNvSpPr>
            <a:spLocks noGrp="1"/>
          </p:cNvSpPr>
          <p:nvPr/>
        </p:nvSpPr>
        <p:spPr>
          <a:xfrm>
            <a:off x="1416050" y="4343400"/>
            <a:ext cx="1095375" cy="476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采集卡</a:t>
            </a:r>
          </a:p>
          <a:p>
            <a:pPr algn="ctr">
              <a:def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OBS 显示</a:t>
            </a:r>
          </a:p>
        </p:txBody>
      </p:sp>
    </p:spTree>
    <p:extLst>
      <p:ext uri="{BB962C8B-B14F-4D97-AF65-F5344CB8AC3E}">
        <p14:creationId xmlns:p14="http://schemas.microsoft.com/office/powerpoint/2010/main" val="314471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FD07F985-1754-4BE7-AD6E-ED22ED968D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F00072-9EE0-4222-88FA-EB21A3F886C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8953500" cy="4572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图像输入与灰度处理流程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4F089A-C0D1-46DB-9E9E-7000223D41D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三张 256×256 灰度指纹图写入 ROM，通过 SW[1:0] 选择当前图像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FB8639-7592-4D98-A5D6-B621C3ECB4DE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20002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367C91-1B82-4F70-BB15-1511301F3EB2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28625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1619250"/>
            <a:ext cx="1762125" cy="1762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67050" y="1619250"/>
            <a:ext cx="1762125" cy="1762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257800" y="1619250"/>
            <a:ext cx="1762125" cy="17621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C49F6D5-9C8D-4FE0-8BA2-8BC735526D17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2047875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fingerprint_0_256.mem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C7C961-2460-4D59-81A0-01B1A897428F}"/>
              </a:ext>
            </a:extLst>
          </p:cNvPr>
          <p:cNvSpPr>
            <a:spLocks noGrp="1"/>
          </p:cNvSpPr>
          <p:nvPr/>
        </p:nvSpPr>
        <p:spPr>
          <a:xfrm>
            <a:off x="2933700" y="3562350"/>
            <a:ext cx="2047875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fingerprint_1_256.mem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04DF5C-96FE-459F-BBA3-2F1604414F9A}"/>
              </a:ext>
            </a:extLst>
          </p:cNvPr>
          <p:cNvSpPr>
            <a:spLocks noGrp="1"/>
          </p:cNvSpPr>
          <p:nvPr/>
        </p:nvSpPr>
        <p:spPr>
          <a:xfrm>
            <a:off x="5124450" y="3562350"/>
            <a:ext cx="2047875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fingerprint_2_256.mem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874377-94AE-4EDD-ABAB-B75086249564}"/>
              </a:ext>
            </a:extLst>
          </p:cNvPr>
          <p:cNvSpPr>
            <a:spLocks noGrp="1"/>
          </p:cNvSpPr>
          <p:nvPr/>
        </p:nvSpPr>
        <p:spPr>
          <a:xfrm>
            <a:off x="7810500" y="1571625"/>
            <a:ext cx="3190875" cy="20955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ED98A7-4A10-4E49-8B3B-CC377635F942}"/>
              </a:ext>
            </a:extLst>
          </p:cNvPr>
          <p:cNvSpPr>
            <a:spLocks noGrp="1"/>
          </p:cNvSpPr>
          <p:nvPr/>
        </p:nvSpPr>
        <p:spPr>
          <a:xfrm>
            <a:off x="7810500" y="1571625"/>
            <a:ext cx="57150" cy="20955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3E8E8E-E1F8-4A40-8926-AD4E308495A1}"/>
              </a:ext>
            </a:extLst>
          </p:cNvPr>
          <p:cNvSpPr>
            <a:spLocks noGrp="1"/>
          </p:cNvSpPr>
          <p:nvPr/>
        </p:nvSpPr>
        <p:spPr>
          <a:xfrm>
            <a:off x="8020050" y="1743075"/>
            <a:ext cx="2867025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输入实现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8164B0-FFEC-4013-918F-BA63D66E0D5F}"/>
              </a:ext>
            </a:extLst>
          </p:cNvPr>
          <p:cNvSpPr>
            <a:spLocks noGrp="1"/>
          </p:cNvSpPr>
          <p:nvPr/>
        </p:nvSpPr>
        <p:spPr>
          <a:xfrm>
            <a:off x="8020050" y="2105025"/>
            <a:ext cx="2847975" cy="14478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image_static_mem_source 合并三张 ROM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SW[1:0] 选择图像 0/1/2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2'b11 保留并回到第 1 张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输出同步灰度像素流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0770D6-DDBF-4B35-AFE9-F248E2AED78E}"/>
              </a:ext>
            </a:extLst>
          </p:cNvPr>
          <p:cNvSpPr>
            <a:spLocks noGrp="1"/>
          </p:cNvSpPr>
          <p:nvPr/>
        </p:nvSpPr>
        <p:spPr>
          <a:xfrm>
            <a:off x="1238250" y="4429125"/>
            <a:ext cx="1428750" cy="32385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7F8694F-6551-4449-875E-EF1133843C81}"/>
              </a:ext>
            </a:extLst>
          </p:cNvPr>
          <p:cNvSpPr>
            <a:spLocks noGrp="1"/>
          </p:cNvSpPr>
          <p:nvPr/>
        </p:nvSpPr>
        <p:spPr>
          <a:xfrm>
            <a:off x="1314450" y="4514850"/>
            <a:ext cx="127635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SW[1:0]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01C6E3-1363-4B4B-91FE-464DB8D22515}"/>
              </a:ext>
            </a:extLst>
          </p:cNvPr>
          <p:cNvSpPr>
            <a:spLocks noGrp="1"/>
          </p:cNvSpPr>
          <p:nvPr/>
        </p:nvSpPr>
        <p:spPr>
          <a:xfrm>
            <a:off x="2667000" y="4429125"/>
            <a:ext cx="1809750" cy="32385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7F4E1F4-A77A-4817-B818-86F1596E501E}"/>
              </a:ext>
            </a:extLst>
          </p:cNvPr>
          <p:cNvSpPr>
            <a:spLocks noGrp="1"/>
          </p:cNvSpPr>
          <p:nvPr/>
        </p:nvSpPr>
        <p:spPr>
          <a:xfrm>
            <a:off x="2743200" y="4514850"/>
            <a:ext cx="165735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当前图像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80E774-A84A-4E24-8AFE-DA5A79457F4E}"/>
              </a:ext>
            </a:extLst>
          </p:cNvPr>
          <p:cNvSpPr>
            <a:spLocks noGrp="1"/>
          </p:cNvSpPr>
          <p:nvPr/>
        </p:nvSpPr>
        <p:spPr>
          <a:xfrm>
            <a:off x="4476750" y="4429125"/>
            <a:ext cx="4572000" cy="32385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0DAF3F-DDF5-442F-8A1B-D07688EDBF2A}"/>
              </a:ext>
            </a:extLst>
          </p:cNvPr>
          <p:cNvSpPr>
            <a:spLocks noGrp="1"/>
          </p:cNvSpPr>
          <p:nvPr/>
        </p:nvSpPr>
        <p:spPr>
          <a:xfrm>
            <a:off x="4552950" y="4514850"/>
            <a:ext cx="441960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0DD4939-7B32-45F4-BA92-856D72B7EFD1}"/>
              </a:ext>
            </a:extLst>
          </p:cNvPr>
          <p:cNvSpPr>
            <a:spLocks noGrp="1"/>
          </p:cNvSpPr>
          <p:nvPr/>
        </p:nvSpPr>
        <p:spPr>
          <a:xfrm>
            <a:off x="1238250" y="4752975"/>
            <a:ext cx="1428750" cy="3238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114432-2EDD-455A-A38E-0E3B185A402C}"/>
              </a:ext>
            </a:extLst>
          </p:cNvPr>
          <p:cNvSpPr>
            <a:spLocks noGrp="1"/>
          </p:cNvSpPr>
          <p:nvPr/>
        </p:nvSpPr>
        <p:spPr>
          <a:xfrm>
            <a:off x="1314450" y="4838700"/>
            <a:ext cx="127635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2'b00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161B7C-8660-40C8-A0B9-5AFE1A2CDB9F}"/>
              </a:ext>
            </a:extLst>
          </p:cNvPr>
          <p:cNvSpPr>
            <a:spLocks noGrp="1"/>
          </p:cNvSpPr>
          <p:nvPr/>
        </p:nvSpPr>
        <p:spPr>
          <a:xfrm>
            <a:off x="2667000" y="4752975"/>
            <a:ext cx="1809750" cy="3238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56BD5F-E4CF-4738-9D38-32D7A81B7775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65735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 1 张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3D8779F-3E11-4DFE-99FE-FA71F46EB33D}"/>
              </a:ext>
            </a:extLst>
          </p:cNvPr>
          <p:cNvSpPr>
            <a:spLocks noGrp="1"/>
          </p:cNvSpPr>
          <p:nvPr/>
        </p:nvSpPr>
        <p:spPr>
          <a:xfrm>
            <a:off x="4476750" y="4752975"/>
            <a:ext cx="4572000" cy="3238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57B5157-AC33-4C6A-B8CE-093EE831F773}"/>
              </a:ext>
            </a:extLst>
          </p:cNvPr>
          <p:cNvSpPr>
            <a:spLocks noGrp="1"/>
          </p:cNvSpPr>
          <p:nvPr/>
        </p:nvSpPr>
        <p:spPr>
          <a:xfrm>
            <a:off x="4552950" y="4838700"/>
            <a:ext cx="441960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规则纹理验证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F67C36-79F2-47B8-A47C-95FFF5E42CD4}"/>
              </a:ext>
            </a:extLst>
          </p:cNvPr>
          <p:cNvSpPr>
            <a:spLocks noGrp="1"/>
          </p:cNvSpPr>
          <p:nvPr/>
        </p:nvSpPr>
        <p:spPr>
          <a:xfrm>
            <a:off x="1238250" y="5076825"/>
            <a:ext cx="1428750" cy="32385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319ED37-F097-418F-A915-C5CA63B892FE}"/>
              </a:ext>
            </a:extLst>
          </p:cNvPr>
          <p:cNvSpPr>
            <a:spLocks noGrp="1"/>
          </p:cNvSpPr>
          <p:nvPr/>
        </p:nvSpPr>
        <p:spPr>
          <a:xfrm>
            <a:off x="1314450" y="5162550"/>
            <a:ext cx="127635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2'b01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8047A4-A97C-4BD9-8EE8-D378BF3815B3}"/>
              </a:ext>
            </a:extLst>
          </p:cNvPr>
          <p:cNvSpPr>
            <a:spLocks noGrp="1"/>
          </p:cNvSpPr>
          <p:nvPr/>
        </p:nvSpPr>
        <p:spPr>
          <a:xfrm>
            <a:off x="2667000" y="5076825"/>
            <a:ext cx="1809750" cy="32385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803ED9B-2C70-4772-BD52-6FB915B01DD5}"/>
              </a:ext>
            </a:extLst>
          </p:cNvPr>
          <p:cNvSpPr>
            <a:spLocks noGrp="1"/>
          </p:cNvSpPr>
          <p:nvPr/>
        </p:nvSpPr>
        <p:spPr>
          <a:xfrm>
            <a:off x="2743200" y="5162550"/>
            <a:ext cx="165735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 2 张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A3F9810-D96E-4CDC-B78C-E3ADB8946B85}"/>
              </a:ext>
            </a:extLst>
          </p:cNvPr>
          <p:cNvSpPr>
            <a:spLocks noGrp="1"/>
          </p:cNvSpPr>
          <p:nvPr/>
        </p:nvSpPr>
        <p:spPr>
          <a:xfrm>
            <a:off x="4476750" y="5076825"/>
            <a:ext cx="4572000" cy="32385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D4074F-0028-4948-8D82-324C9100FAA2}"/>
              </a:ext>
            </a:extLst>
          </p:cNvPr>
          <p:cNvSpPr>
            <a:spLocks noGrp="1"/>
          </p:cNvSpPr>
          <p:nvPr/>
        </p:nvSpPr>
        <p:spPr>
          <a:xfrm>
            <a:off x="4552950" y="5162550"/>
            <a:ext cx="441960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不同核心形态验证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8A8D58-ABD2-4D5A-931B-AC563EFB86BA}"/>
              </a:ext>
            </a:extLst>
          </p:cNvPr>
          <p:cNvSpPr>
            <a:spLocks noGrp="1"/>
          </p:cNvSpPr>
          <p:nvPr/>
        </p:nvSpPr>
        <p:spPr>
          <a:xfrm>
            <a:off x="1238250" y="5400675"/>
            <a:ext cx="1428750" cy="3238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C2C7CB3-17E4-4CEF-ABCF-1D9D2DE83A37}"/>
              </a:ext>
            </a:extLst>
          </p:cNvPr>
          <p:cNvSpPr>
            <a:spLocks noGrp="1"/>
          </p:cNvSpPr>
          <p:nvPr/>
        </p:nvSpPr>
        <p:spPr>
          <a:xfrm>
            <a:off x="1314450" y="5486400"/>
            <a:ext cx="127635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2'b10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DE6900D-FFAE-4284-BE1D-6C7C0D0956A2}"/>
              </a:ext>
            </a:extLst>
          </p:cNvPr>
          <p:cNvSpPr>
            <a:spLocks noGrp="1"/>
          </p:cNvSpPr>
          <p:nvPr/>
        </p:nvSpPr>
        <p:spPr>
          <a:xfrm>
            <a:off x="2667000" y="5400675"/>
            <a:ext cx="1809750" cy="3238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BA8C7AB-9D16-4465-8A83-BCF46746DCE5}"/>
              </a:ext>
            </a:extLst>
          </p:cNvPr>
          <p:cNvSpPr>
            <a:spLocks noGrp="1"/>
          </p:cNvSpPr>
          <p:nvPr/>
        </p:nvSpPr>
        <p:spPr>
          <a:xfrm>
            <a:off x="2743200" y="5486400"/>
            <a:ext cx="165735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 3 张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9DAF93E-C5AF-4A16-9773-8A3AF2EE1F0F}"/>
              </a:ext>
            </a:extLst>
          </p:cNvPr>
          <p:cNvSpPr>
            <a:spLocks noGrp="1"/>
          </p:cNvSpPr>
          <p:nvPr/>
        </p:nvSpPr>
        <p:spPr>
          <a:xfrm>
            <a:off x="4476750" y="5400675"/>
            <a:ext cx="4572000" cy="3238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32FCE8F-21F9-4F61-A96F-221E473A8F8A}"/>
              </a:ext>
            </a:extLst>
          </p:cNvPr>
          <p:cNvSpPr>
            <a:spLocks noGrp="1"/>
          </p:cNvSpPr>
          <p:nvPr/>
        </p:nvSpPr>
        <p:spPr>
          <a:xfrm>
            <a:off x="4552950" y="5486400"/>
            <a:ext cx="441960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真实灰度指纹验证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0FD0F1E-26EF-4BB3-9F78-723B90F7C6CB}"/>
              </a:ext>
            </a:extLst>
          </p:cNvPr>
          <p:cNvSpPr>
            <a:spLocks noGrp="1"/>
          </p:cNvSpPr>
          <p:nvPr/>
        </p:nvSpPr>
        <p:spPr>
          <a:xfrm>
            <a:off x="1238250" y="5724525"/>
            <a:ext cx="1428750" cy="32385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DD45F80-0FBF-483B-BDD7-B5ED9E5E6CCC}"/>
              </a:ext>
            </a:extLst>
          </p:cNvPr>
          <p:cNvSpPr>
            <a:spLocks noGrp="1"/>
          </p:cNvSpPr>
          <p:nvPr/>
        </p:nvSpPr>
        <p:spPr>
          <a:xfrm>
            <a:off x="1314450" y="5810250"/>
            <a:ext cx="127635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2'b11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B20E8B1-AAEF-4CC0-B75D-690EA807EF91}"/>
              </a:ext>
            </a:extLst>
          </p:cNvPr>
          <p:cNvSpPr>
            <a:spLocks noGrp="1"/>
          </p:cNvSpPr>
          <p:nvPr/>
        </p:nvSpPr>
        <p:spPr>
          <a:xfrm>
            <a:off x="2667000" y="5724525"/>
            <a:ext cx="1809750" cy="32385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FD90B32-D0CD-4AFC-A04D-46EF29E1ABDB}"/>
              </a:ext>
            </a:extLst>
          </p:cNvPr>
          <p:cNvSpPr>
            <a:spLocks noGrp="1"/>
          </p:cNvSpPr>
          <p:nvPr/>
        </p:nvSpPr>
        <p:spPr>
          <a:xfrm>
            <a:off x="2743200" y="5810250"/>
            <a:ext cx="165735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8BB0382-7C85-4012-AFDA-EAB4DA7DAE15}"/>
              </a:ext>
            </a:extLst>
          </p:cNvPr>
          <p:cNvSpPr>
            <a:spLocks noGrp="1"/>
          </p:cNvSpPr>
          <p:nvPr/>
        </p:nvSpPr>
        <p:spPr>
          <a:xfrm>
            <a:off x="4476750" y="5724525"/>
            <a:ext cx="4572000" cy="32385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8035FC8-6D9B-417E-8BE0-A9943FD7170F}"/>
              </a:ext>
            </a:extLst>
          </p:cNvPr>
          <p:cNvSpPr>
            <a:spLocks noGrp="1"/>
          </p:cNvSpPr>
          <p:nvPr/>
        </p:nvSpPr>
        <p:spPr>
          <a:xfrm>
            <a:off x="4552950" y="5810250"/>
            <a:ext cx="4419600" cy="2095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默认回到第 1 张</a:t>
            </a:r>
          </a:p>
        </p:txBody>
      </p:sp>
    </p:spTree>
    <p:extLst>
      <p:ext uri="{BB962C8B-B14F-4D97-AF65-F5344CB8AC3E}">
        <p14:creationId xmlns:p14="http://schemas.microsoft.com/office/powerpoint/2010/main" val="769307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884CEDCF-7E08-4508-89C3-8D83495907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091-2C3A-4B6F-AE0B-7B6A2B23545F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8953500" cy="4572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Sobel 梯度计算原理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DEDEB1-F60E-4984-9347-7FEADCDA7D57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3×3 邻域计算灰度变化，得到 Gx 与 Gy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BB9D7E-8247-42FA-98F6-C4C3825847B5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20002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BC9991-B2C4-4D1D-A64B-DF88559C1604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28625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9AD082-4D5F-46B1-99DA-EB8A290D20B9}"/>
              </a:ext>
            </a:extLst>
          </p:cNvPr>
          <p:cNvSpPr>
            <a:spLocks noGrp="1"/>
          </p:cNvSpPr>
          <p:nvPr/>
        </p:nvSpPr>
        <p:spPr>
          <a:xfrm>
            <a:off x="1381125" y="1666875"/>
            <a:ext cx="1714500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5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Gx 卷积核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E4AE24-67BE-4BEB-9F64-98E667D76684}"/>
              </a:ext>
            </a:extLst>
          </p:cNvPr>
          <p:cNvSpPr>
            <a:spLocks noGrp="1"/>
          </p:cNvSpPr>
          <p:nvPr/>
        </p:nvSpPr>
        <p:spPr>
          <a:xfrm>
            <a:off x="1381125" y="20002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5A41FC-6114-4779-B9E8-959F2E39EEF8}"/>
              </a:ext>
            </a:extLst>
          </p:cNvPr>
          <p:cNvSpPr>
            <a:spLocks noGrp="1"/>
          </p:cNvSpPr>
          <p:nvPr/>
        </p:nvSpPr>
        <p:spPr>
          <a:xfrm>
            <a:off x="1381125" y="21145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-1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57EC82-9FB1-4BDF-955D-BA3591F7C876}"/>
              </a:ext>
            </a:extLst>
          </p:cNvPr>
          <p:cNvSpPr>
            <a:spLocks noGrp="1"/>
          </p:cNvSpPr>
          <p:nvPr/>
        </p:nvSpPr>
        <p:spPr>
          <a:xfrm>
            <a:off x="1895475" y="20002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533914-FC67-4328-B42E-D8421FB2BA21}"/>
              </a:ext>
            </a:extLst>
          </p:cNvPr>
          <p:cNvSpPr>
            <a:spLocks noGrp="1"/>
          </p:cNvSpPr>
          <p:nvPr/>
        </p:nvSpPr>
        <p:spPr>
          <a:xfrm>
            <a:off x="1895475" y="21145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46F1B1-B097-44AB-919F-ED16C7432E70}"/>
              </a:ext>
            </a:extLst>
          </p:cNvPr>
          <p:cNvSpPr>
            <a:spLocks noGrp="1"/>
          </p:cNvSpPr>
          <p:nvPr/>
        </p:nvSpPr>
        <p:spPr>
          <a:xfrm>
            <a:off x="2409825" y="20002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6E64D6-C915-40CA-B426-A07DAB058950}"/>
              </a:ext>
            </a:extLst>
          </p:cNvPr>
          <p:cNvSpPr>
            <a:spLocks noGrp="1"/>
          </p:cNvSpPr>
          <p:nvPr/>
        </p:nvSpPr>
        <p:spPr>
          <a:xfrm>
            <a:off x="2409825" y="21145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6A9CD8-A988-45A0-BA69-7C13DDBB8F88}"/>
              </a:ext>
            </a:extLst>
          </p:cNvPr>
          <p:cNvSpPr>
            <a:spLocks noGrp="1"/>
          </p:cNvSpPr>
          <p:nvPr/>
        </p:nvSpPr>
        <p:spPr>
          <a:xfrm>
            <a:off x="1381125" y="251460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FA9955-5F3F-4515-87FF-5440E2EF57EB}"/>
              </a:ext>
            </a:extLst>
          </p:cNvPr>
          <p:cNvSpPr>
            <a:spLocks noGrp="1"/>
          </p:cNvSpPr>
          <p:nvPr/>
        </p:nvSpPr>
        <p:spPr>
          <a:xfrm>
            <a:off x="1381125" y="262890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-2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AF87E2-61BF-47F0-8BE5-11D5D3B1384B}"/>
              </a:ext>
            </a:extLst>
          </p:cNvPr>
          <p:cNvSpPr>
            <a:spLocks noGrp="1"/>
          </p:cNvSpPr>
          <p:nvPr/>
        </p:nvSpPr>
        <p:spPr>
          <a:xfrm>
            <a:off x="1895475" y="251460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6C207D-7EE6-4127-B961-81D552298796}"/>
              </a:ext>
            </a:extLst>
          </p:cNvPr>
          <p:cNvSpPr>
            <a:spLocks noGrp="1"/>
          </p:cNvSpPr>
          <p:nvPr/>
        </p:nvSpPr>
        <p:spPr>
          <a:xfrm>
            <a:off x="1895475" y="262890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D5044A-FD45-4ED6-90FD-BD54CDE5429C}"/>
              </a:ext>
            </a:extLst>
          </p:cNvPr>
          <p:cNvSpPr>
            <a:spLocks noGrp="1"/>
          </p:cNvSpPr>
          <p:nvPr/>
        </p:nvSpPr>
        <p:spPr>
          <a:xfrm>
            <a:off x="2409825" y="251460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6E8B16-E2BE-48AD-A539-79BEFF11ED04}"/>
              </a:ext>
            </a:extLst>
          </p:cNvPr>
          <p:cNvSpPr>
            <a:spLocks noGrp="1"/>
          </p:cNvSpPr>
          <p:nvPr/>
        </p:nvSpPr>
        <p:spPr>
          <a:xfrm>
            <a:off x="2409825" y="262890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2381C2-DE4B-4BE4-8347-1B946DB8AB00}"/>
              </a:ext>
            </a:extLst>
          </p:cNvPr>
          <p:cNvSpPr>
            <a:spLocks noGrp="1"/>
          </p:cNvSpPr>
          <p:nvPr/>
        </p:nvSpPr>
        <p:spPr>
          <a:xfrm>
            <a:off x="1381125" y="30289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8F8413-0F71-4AEA-9C63-6F7B655A64BB}"/>
              </a:ext>
            </a:extLst>
          </p:cNvPr>
          <p:cNvSpPr>
            <a:spLocks noGrp="1"/>
          </p:cNvSpPr>
          <p:nvPr/>
        </p:nvSpPr>
        <p:spPr>
          <a:xfrm>
            <a:off x="1381125" y="31432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-1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D2A519-6897-4BF1-99FE-B08FADAB6827}"/>
              </a:ext>
            </a:extLst>
          </p:cNvPr>
          <p:cNvSpPr>
            <a:spLocks noGrp="1"/>
          </p:cNvSpPr>
          <p:nvPr/>
        </p:nvSpPr>
        <p:spPr>
          <a:xfrm>
            <a:off x="1895475" y="30289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E03590-252C-46FD-A96B-CB2438529F61}"/>
              </a:ext>
            </a:extLst>
          </p:cNvPr>
          <p:cNvSpPr>
            <a:spLocks noGrp="1"/>
          </p:cNvSpPr>
          <p:nvPr/>
        </p:nvSpPr>
        <p:spPr>
          <a:xfrm>
            <a:off x="1895475" y="31432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C097FA3-395B-42A9-8E6E-ED9EAE2AAAA1}"/>
              </a:ext>
            </a:extLst>
          </p:cNvPr>
          <p:cNvSpPr>
            <a:spLocks noGrp="1"/>
          </p:cNvSpPr>
          <p:nvPr/>
        </p:nvSpPr>
        <p:spPr>
          <a:xfrm>
            <a:off x="2409825" y="30289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F736793-73C5-4083-A687-7C3E8107A9B1}"/>
              </a:ext>
            </a:extLst>
          </p:cNvPr>
          <p:cNvSpPr>
            <a:spLocks noGrp="1"/>
          </p:cNvSpPr>
          <p:nvPr/>
        </p:nvSpPr>
        <p:spPr>
          <a:xfrm>
            <a:off x="2409825" y="31432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C3FA4DD-48C5-41D9-B949-4F1CB12AF88E}"/>
              </a:ext>
            </a:extLst>
          </p:cNvPr>
          <p:cNvSpPr>
            <a:spLocks noGrp="1"/>
          </p:cNvSpPr>
          <p:nvPr/>
        </p:nvSpPr>
        <p:spPr>
          <a:xfrm>
            <a:off x="3952875" y="1666875"/>
            <a:ext cx="1714500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5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Gy 卷积核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D59F3A-6666-4C0E-99AC-AF1712EFF825}"/>
              </a:ext>
            </a:extLst>
          </p:cNvPr>
          <p:cNvSpPr>
            <a:spLocks noGrp="1"/>
          </p:cNvSpPr>
          <p:nvPr/>
        </p:nvSpPr>
        <p:spPr>
          <a:xfrm>
            <a:off x="3952875" y="20002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D19972F-3A1D-4A90-A746-3C7272F4E869}"/>
              </a:ext>
            </a:extLst>
          </p:cNvPr>
          <p:cNvSpPr>
            <a:spLocks noGrp="1"/>
          </p:cNvSpPr>
          <p:nvPr/>
        </p:nvSpPr>
        <p:spPr>
          <a:xfrm>
            <a:off x="3952875" y="21145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21779E-93EB-4A4E-BADA-15361E98524F}"/>
              </a:ext>
            </a:extLst>
          </p:cNvPr>
          <p:cNvSpPr>
            <a:spLocks noGrp="1"/>
          </p:cNvSpPr>
          <p:nvPr/>
        </p:nvSpPr>
        <p:spPr>
          <a:xfrm>
            <a:off x="4467225" y="20002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C9FE20-9C4A-418A-AB9D-797411FC7D98}"/>
              </a:ext>
            </a:extLst>
          </p:cNvPr>
          <p:cNvSpPr>
            <a:spLocks noGrp="1"/>
          </p:cNvSpPr>
          <p:nvPr/>
        </p:nvSpPr>
        <p:spPr>
          <a:xfrm>
            <a:off x="4467225" y="21145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61BA2D-44A5-489C-8C43-53C38F00D971}"/>
              </a:ext>
            </a:extLst>
          </p:cNvPr>
          <p:cNvSpPr>
            <a:spLocks noGrp="1"/>
          </p:cNvSpPr>
          <p:nvPr/>
        </p:nvSpPr>
        <p:spPr>
          <a:xfrm>
            <a:off x="4981575" y="20002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7EB438-E25B-43FF-AD61-45EBA56CEE56}"/>
              </a:ext>
            </a:extLst>
          </p:cNvPr>
          <p:cNvSpPr>
            <a:spLocks noGrp="1"/>
          </p:cNvSpPr>
          <p:nvPr/>
        </p:nvSpPr>
        <p:spPr>
          <a:xfrm>
            <a:off x="4981575" y="21145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830664-7782-4B45-BB8B-A180CAB27593}"/>
              </a:ext>
            </a:extLst>
          </p:cNvPr>
          <p:cNvSpPr>
            <a:spLocks noGrp="1"/>
          </p:cNvSpPr>
          <p:nvPr/>
        </p:nvSpPr>
        <p:spPr>
          <a:xfrm>
            <a:off x="3952875" y="251460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76561AE-782C-48D2-89F1-578D38769ED4}"/>
              </a:ext>
            </a:extLst>
          </p:cNvPr>
          <p:cNvSpPr>
            <a:spLocks noGrp="1"/>
          </p:cNvSpPr>
          <p:nvPr/>
        </p:nvSpPr>
        <p:spPr>
          <a:xfrm>
            <a:off x="3952875" y="262890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4A0E0F-C698-4E1B-942C-F11C1742D020}"/>
              </a:ext>
            </a:extLst>
          </p:cNvPr>
          <p:cNvSpPr>
            <a:spLocks noGrp="1"/>
          </p:cNvSpPr>
          <p:nvPr/>
        </p:nvSpPr>
        <p:spPr>
          <a:xfrm>
            <a:off x="4467225" y="251460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A9EE548-5532-40CE-A31C-5BBC1AA1A07D}"/>
              </a:ext>
            </a:extLst>
          </p:cNvPr>
          <p:cNvSpPr>
            <a:spLocks noGrp="1"/>
          </p:cNvSpPr>
          <p:nvPr/>
        </p:nvSpPr>
        <p:spPr>
          <a:xfrm>
            <a:off x="4467225" y="262890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3421B1B-318C-4305-98A7-D05FC52B36DC}"/>
              </a:ext>
            </a:extLst>
          </p:cNvPr>
          <p:cNvSpPr>
            <a:spLocks noGrp="1"/>
          </p:cNvSpPr>
          <p:nvPr/>
        </p:nvSpPr>
        <p:spPr>
          <a:xfrm>
            <a:off x="4981575" y="251460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0313803-FD75-4653-9BBB-264FD8B8BAE2}"/>
              </a:ext>
            </a:extLst>
          </p:cNvPr>
          <p:cNvSpPr>
            <a:spLocks noGrp="1"/>
          </p:cNvSpPr>
          <p:nvPr/>
        </p:nvSpPr>
        <p:spPr>
          <a:xfrm>
            <a:off x="4981575" y="262890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CEF6923-B23F-4357-BEC4-A6224F1FB571}"/>
              </a:ext>
            </a:extLst>
          </p:cNvPr>
          <p:cNvSpPr>
            <a:spLocks noGrp="1"/>
          </p:cNvSpPr>
          <p:nvPr/>
        </p:nvSpPr>
        <p:spPr>
          <a:xfrm>
            <a:off x="3952875" y="30289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F59EE47-A8B2-4EA0-B1A7-1EA92A0FF8C3}"/>
              </a:ext>
            </a:extLst>
          </p:cNvPr>
          <p:cNvSpPr>
            <a:spLocks noGrp="1"/>
          </p:cNvSpPr>
          <p:nvPr/>
        </p:nvSpPr>
        <p:spPr>
          <a:xfrm>
            <a:off x="3952875" y="31432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-1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B31BB2-345B-48D1-8672-3370ABE42823}"/>
              </a:ext>
            </a:extLst>
          </p:cNvPr>
          <p:cNvSpPr>
            <a:spLocks noGrp="1"/>
          </p:cNvSpPr>
          <p:nvPr/>
        </p:nvSpPr>
        <p:spPr>
          <a:xfrm>
            <a:off x="4467225" y="30289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59AB5A1-FF5E-4BDA-9FDD-5B57C2809EBD}"/>
              </a:ext>
            </a:extLst>
          </p:cNvPr>
          <p:cNvSpPr>
            <a:spLocks noGrp="1"/>
          </p:cNvSpPr>
          <p:nvPr/>
        </p:nvSpPr>
        <p:spPr>
          <a:xfrm>
            <a:off x="4467225" y="31432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-2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EA82E82-F0C9-4EAD-A4B5-B8A4051ABA76}"/>
              </a:ext>
            </a:extLst>
          </p:cNvPr>
          <p:cNvSpPr>
            <a:spLocks noGrp="1"/>
          </p:cNvSpPr>
          <p:nvPr/>
        </p:nvSpPr>
        <p:spPr>
          <a:xfrm>
            <a:off x="4981575" y="3028950"/>
            <a:ext cx="514350" cy="5143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2D0255B-5AB9-40F5-B2FB-00DC3E505D38}"/>
              </a:ext>
            </a:extLst>
          </p:cNvPr>
          <p:cNvSpPr>
            <a:spLocks noGrp="1"/>
          </p:cNvSpPr>
          <p:nvPr/>
        </p:nvSpPr>
        <p:spPr>
          <a:xfrm>
            <a:off x="4981575" y="3143250"/>
            <a:ext cx="5143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-1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6FF0F4C-A9D8-4016-B1DB-0A08AB4FA25D}"/>
              </a:ext>
            </a:extLst>
          </p:cNvPr>
          <p:cNvSpPr>
            <a:spLocks noGrp="1"/>
          </p:cNvSpPr>
          <p:nvPr/>
        </p:nvSpPr>
        <p:spPr>
          <a:xfrm>
            <a:off x="7000875" y="1809750"/>
            <a:ext cx="3619500" cy="176212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776CE53-A9C5-4417-9D32-F31C9EADC3B4}"/>
              </a:ext>
            </a:extLst>
          </p:cNvPr>
          <p:cNvSpPr>
            <a:spLocks noGrp="1"/>
          </p:cNvSpPr>
          <p:nvPr/>
        </p:nvSpPr>
        <p:spPr>
          <a:xfrm>
            <a:off x="7000875" y="1809750"/>
            <a:ext cx="57150" cy="1762125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05C752F-C85E-4B4E-98BF-91ADEB4F3A9F}"/>
              </a:ext>
            </a:extLst>
          </p:cNvPr>
          <p:cNvSpPr>
            <a:spLocks noGrp="1"/>
          </p:cNvSpPr>
          <p:nvPr/>
        </p:nvSpPr>
        <p:spPr>
          <a:xfrm>
            <a:off x="7210425" y="1981200"/>
            <a:ext cx="329565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硬件实现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2B07554-7397-4C46-929C-F8903C45F14E}"/>
              </a:ext>
            </a:extLst>
          </p:cNvPr>
          <p:cNvSpPr>
            <a:spLocks noGrp="1"/>
          </p:cNvSpPr>
          <p:nvPr/>
        </p:nvSpPr>
        <p:spPr>
          <a:xfrm>
            <a:off x="7210425" y="2343150"/>
            <a:ext cx="3276600" cy="111442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pixel_window_3x3 缓存两行像素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sobel_core 组合计算 Gx/Gy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梯度强度用于筛除弱纹理区域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C9EE262-9353-4617-9D9C-52D9FA655716}"/>
              </a:ext>
            </a:extLst>
          </p:cNvPr>
          <p:cNvSpPr>
            <a:spLocks noGrp="1"/>
          </p:cNvSpPr>
          <p:nvPr/>
        </p:nvSpPr>
        <p:spPr>
          <a:xfrm>
            <a:off x="1285875" y="4524374"/>
            <a:ext cx="9191625" cy="1209675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9CC12EA-B880-44B5-BD29-91A085579398}"/>
              </a:ext>
            </a:extLst>
          </p:cNvPr>
          <p:cNvSpPr>
            <a:spLocks noGrp="1"/>
          </p:cNvSpPr>
          <p:nvPr/>
        </p:nvSpPr>
        <p:spPr>
          <a:xfrm>
            <a:off x="1571625" y="4810125"/>
            <a:ext cx="8620125" cy="4000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 dirty="0" err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关键点：Sobel</a:t>
            </a:r>
            <a:r>
              <a:rPr sz="1650" b="1" i="0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1" i="0" dirty="0" err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梯度方向表示灰度变化最快的方向，通常是纹线边缘法线；指纹方向场最</a:t>
            </a:r>
            <a:r>
              <a:rPr lang="zh-CN" altLang="en-US" sz="1650" b="1" i="0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终</a:t>
            </a:r>
            <a:r>
              <a:rPr sz="1650" b="1" i="0" dirty="0" err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要显示脊线切向方向</a:t>
            </a:r>
            <a:r>
              <a:rPr sz="1650" b="1" i="0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9571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42C33875-3F89-41DB-8108-44BB247554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77288E-ABF3-4F95-BCAB-A985A9BE56E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8953500" cy="4572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CORDIC 方向角计算原理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D78624-FC22-4F2D-9EB5-EF5FD64D94B5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使用移位加减迭代近似 atan2，适合 FPGA 定点硬件实现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F11648-D506-420E-BACC-1D545D601220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20002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F91076-604F-4021-A4D6-FD69F908D83A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28625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24E7B8-85D6-4579-9913-7EDAE3A5807A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4143375" cy="32385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FB1753-D51F-4293-8C49-026BCE6615CF}"/>
              </a:ext>
            </a:extLst>
          </p:cNvPr>
          <p:cNvSpPr>
            <a:spLocks noGrp="1"/>
          </p:cNvSpPr>
          <p:nvPr/>
        </p:nvSpPr>
        <p:spPr>
          <a:xfrm>
            <a:off x="1095375" y="1847850"/>
            <a:ext cx="2095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CORDIC 思路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04C434-FF2B-4BAF-9F23-DEA4796BC6FF}"/>
              </a:ext>
            </a:extLst>
          </p:cNvPr>
          <p:cNvSpPr>
            <a:spLocks noGrp="1"/>
          </p:cNvSpPr>
          <p:nvPr/>
        </p:nvSpPr>
        <p:spPr>
          <a:xfrm>
            <a:off x="1181100" y="2333625"/>
            <a:ext cx="3286125" cy="16192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5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输入：局部块 tensor 向量</a:t>
            </a:r>
          </a:p>
          <a:p>
            <a:pPr algn="l">
              <a:lnSpc>
                <a:spcPct val="125000"/>
              </a:lnSpc>
              <a:buNone/>
              <a:defRPr sz="15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迭代：只使用移位和加减</a:t>
            </a:r>
          </a:p>
          <a:p>
            <a:pPr algn="l">
              <a:lnSpc>
                <a:spcPct val="125000"/>
              </a:lnSpc>
              <a:buNone/>
              <a:defRPr sz="15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输出：atan2 方向角</a:t>
            </a:r>
          </a:p>
          <a:p>
            <a:pPr algn="l">
              <a:lnSpc>
                <a:spcPct val="125000"/>
              </a:lnSpc>
              <a:buNone/>
              <a:defRPr sz="15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tensor 为二倍角，最终再取半角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3481BE-7892-492F-A275-D8CFDF816479}"/>
              </a:ext>
            </a:extLst>
          </p:cNvPr>
          <p:cNvSpPr>
            <a:spLocks noGrp="1"/>
          </p:cNvSpPr>
          <p:nvPr/>
        </p:nvSpPr>
        <p:spPr>
          <a:xfrm>
            <a:off x="5857875" y="1600200"/>
            <a:ext cx="4524375" cy="328612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CDD1E5-9A1D-4052-8567-075A043E42C3}"/>
              </a:ext>
            </a:extLst>
          </p:cNvPr>
          <p:cNvSpPr>
            <a:spLocks noGrp="1"/>
          </p:cNvSpPr>
          <p:nvPr/>
        </p:nvSpPr>
        <p:spPr>
          <a:xfrm>
            <a:off x="6115050" y="1838325"/>
            <a:ext cx="200025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方向量化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22FB0B-833B-4026-9A59-D4A864461B6C}"/>
              </a:ext>
            </a:extLst>
          </p:cNvPr>
          <p:cNvSpPr>
            <a:spLocks noGrp="1"/>
          </p:cNvSpPr>
          <p:nvPr/>
        </p:nvSpPr>
        <p:spPr>
          <a:xfrm>
            <a:off x="6172200" y="2362200"/>
            <a:ext cx="781050" cy="457200"/>
          </a:xfrm>
          <a:prstGeom prst="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BD0DB5-12F0-4800-BFA4-035B05A9BD9C}"/>
              </a:ext>
            </a:extLst>
          </p:cNvPr>
          <p:cNvSpPr>
            <a:spLocks noGrp="1"/>
          </p:cNvSpPr>
          <p:nvPr/>
        </p:nvSpPr>
        <p:spPr>
          <a:xfrm>
            <a:off x="6172200" y="2419350"/>
            <a:ext cx="78105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  <a:p>
            <a:pPr algn="ctr">
              <a:def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0°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9253E9-3300-4270-A149-6A89071AF8BC}"/>
              </a:ext>
            </a:extLst>
          </p:cNvPr>
          <p:cNvSpPr>
            <a:spLocks noGrp="1"/>
          </p:cNvSpPr>
          <p:nvPr/>
        </p:nvSpPr>
        <p:spPr>
          <a:xfrm>
            <a:off x="7162800" y="2362200"/>
            <a:ext cx="781050" cy="457200"/>
          </a:xfrm>
          <a:prstGeom prst="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60F1BA-791F-4505-96B7-A7E8288A9099}"/>
              </a:ext>
            </a:extLst>
          </p:cNvPr>
          <p:cNvSpPr>
            <a:spLocks noGrp="1"/>
          </p:cNvSpPr>
          <p:nvPr/>
        </p:nvSpPr>
        <p:spPr>
          <a:xfrm>
            <a:off x="7162800" y="2419350"/>
            <a:ext cx="78105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22.5°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3DC720-D8A2-4B7C-BEF4-5777BF3FEEF1}"/>
              </a:ext>
            </a:extLst>
          </p:cNvPr>
          <p:cNvSpPr>
            <a:spLocks noGrp="1"/>
          </p:cNvSpPr>
          <p:nvPr/>
        </p:nvSpPr>
        <p:spPr>
          <a:xfrm>
            <a:off x="8153400" y="2362200"/>
            <a:ext cx="781050" cy="457200"/>
          </a:xfrm>
          <a:prstGeom prst="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F07129-0939-4711-BE57-8AE1F0D88FA2}"/>
              </a:ext>
            </a:extLst>
          </p:cNvPr>
          <p:cNvSpPr>
            <a:spLocks noGrp="1"/>
          </p:cNvSpPr>
          <p:nvPr/>
        </p:nvSpPr>
        <p:spPr>
          <a:xfrm>
            <a:off x="8153400" y="2419350"/>
            <a:ext cx="78105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>
            <a:pPr algn="ctr">
              <a:def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45°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FE145B-32D4-41AB-98B6-C466892639E4}"/>
              </a:ext>
            </a:extLst>
          </p:cNvPr>
          <p:cNvSpPr>
            <a:spLocks noGrp="1"/>
          </p:cNvSpPr>
          <p:nvPr/>
        </p:nvSpPr>
        <p:spPr>
          <a:xfrm>
            <a:off x="9144000" y="2362200"/>
            <a:ext cx="781050" cy="457200"/>
          </a:xfrm>
          <a:prstGeom prst="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6D71A53-F450-43F5-AEDA-62C9626E4217}"/>
              </a:ext>
            </a:extLst>
          </p:cNvPr>
          <p:cNvSpPr>
            <a:spLocks noGrp="1"/>
          </p:cNvSpPr>
          <p:nvPr/>
        </p:nvSpPr>
        <p:spPr>
          <a:xfrm>
            <a:off x="9144000" y="2419350"/>
            <a:ext cx="78105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67.5°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AA79B3-91ED-493C-B09E-B140B72F0766}"/>
              </a:ext>
            </a:extLst>
          </p:cNvPr>
          <p:cNvSpPr>
            <a:spLocks noGrp="1"/>
          </p:cNvSpPr>
          <p:nvPr/>
        </p:nvSpPr>
        <p:spPr>
          <a:xfrm>
            <a:off x="6172200" y="3105150"/>
            <a:ext cx="781050" cy="457200"/>
          </a:xfrm>
          <a:prstGeom prst="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6D858A-4154-4CD4-8DB0-8947C5B8664D}"/>
              </a:ext>
            </a:extLst>
          </p:cNvPr>
          <p:cNvSpPr>
            <a:spLocks noGrp="1"/>
          </p:cNvSpPr>
          <p:nvPr/>
        </p:nvSpPr>
        <p:spPr>
          <a:xfrm>
            <a:off x="6172200" y="3162300"/>
            <a:ext cx="78105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>
            <a:pPr algn="ctr">
              <a:def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90°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F978B6-86D9-4D4E-A755-A14991AE8359}"/>
              </a:ext>
            </a:extLst>
          </p:cNvPr>
          <p:cNvSpPr>
            <a:spLocks noGrp="1"/>
          </p:cNvSpPr>
          <p:nvPr/>
        </p:nvSpPr>
        <p:spPr>
          <a:xfrm>
            <a:off x="7162800" y="3105150"/>
            <a:ext cx="781050" cy="457200"/>
          </a:xfrm>
          <a:prstGeom prst="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99ED19F-0613-44D0-AA66-EF2B57052A9D}"/>
              </a:ext>
            </a:extLst>
          </p:cNvPr>
          <p:cNvSpPr>
            <a:spLocks noGrp="1"/>
          </p:cNvSpPr>
          <p:nvPr/>
        </p:nvSpPr>
        <p:spPr>
          <a:xfrm>
            <a:off x="7162800" y="3162300"/>
            <a:ext cx="78105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112.5°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601D66-0A1B-4677-8407-3C84DD285DC3}"/>
              </a:ext>
            </a:extLst>
          </p:cNvPr>
          <p:cNvSpPr>
            <a:spLocks noGrp="1"/>
          </p:cNvSpPr>
          <p:nvPr/>
        </p:nvSpPr>
        <p:spPr>
          <a:xfrm>
            <a:off x="8153400" y="3105150"/>
            <a:ext cx="781050" cy="457200"/>
          </a:xfrm>
          <a:prstGeom prst="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13519A-0F29-4D23-BAF5-5DF3E77311DC}"/>
              </a:ext>
            </a:extLst>
          </p:cNvPr>
          <p:cNvSpPr>
            <a:spLocks noGrp="1"/>
          </p:cNvSpPr>
          <p:nvPr/>
        </p:nvSpPr>
        <p:spPr>
          <a:xfrm>
            <a:off x="8153400" y="3162300"/>
            <a:ext cx="78105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  <a:p>
            <a:pPr algn="ctr">
              <a:def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135°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4D36D7A-4234-4998-BB5E-B1F77C41576F}"/>
              </a:ext>
            </a:extLst>
          </p:cNvPr>
          <p:cNvSpPr>
            <a:spLocks noGrp="1"/>
          </p:cNvSpPr>
          <p:nvPr/>
        </p:nvSpPr>
        <p:spPr>
          <a:xfrm>
            <a:off x="9144000" y="3105150"/>
            <a:ext cx="781050" cy="457200"/>
          </a:xfrm>
          <a:prstGeom prst="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09B3405-C566-4E96-91FF-4686322A7FD2}"/>
              </a:ext>
            </a:extLst>
          </p:cNvPr>
          <p:cNvSpPr>
            <a:spLocks noGrp="1"/>
          </p:cNvSpPr>
          <p:nvPr/>
        </p:nvSpPr>
        <p:spPr>
          <a:xfrm>
            <a:off x="9144000" y="3162300"/>
            <a:ext cx="781050" cy="381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  <a:p>
            <a:pPr algn="ctr">
              <a:def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157.5°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CF88447-0A1B-4A9B-9A50-53B5FFA5E79E}"/>
              </a:ext>
            </a:extLst>
          </p:cNvPr>
          <p:cNvSpPr>
            <a:spLocks noGrp="1"/>
          </p:cNvSpPr>
          <p:nvPr/>
        </p:nvSpPr>
        <p:spPr>
          <a:xfrm>
            <a:off x="6334125" y="4171950"/>
            <a:ext cx="3667125" cy="4000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当前工程输出 8 个方向 bin。每个 bin 对应一个局部脊线主方向，用于后续方向线渲染。</a:t>
            </a:r>
          </a:p>
        </p:txBody>
      </p:sp>
    </p:spTree>
    <p:extLst>
      <p:ext uri="{BB962C8B-B14F-4D97-AF65-F5344CB8AC3E}">
        <p14:creationId xmlns:p14="http://schemas.microsoft.com/office/powerpoint/2010/main" val="137439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>
            <a:extLst>
              <a:ext uri="{FF2B5EF4-FFF2-40B4-BE49-F238E27FC236}">
                <a16:creationId xmlns:a16="http://schemas.microsoft.com/office/drawing/2014/main" id="{59D45F3D-611E-438E-8CCF-A6CCCC1A64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5D5D74-0C95-4F4C-994A-6F764C56A4B0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8953500" cy="4572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区域方向统计方法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91B8BD-99D6-4AE5-AB39-7111A34EB68A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8×8 像素块内累加方向信息，得到更稳定的局部主方向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CC3BE3-A415-47DF-8061-953DF867D4CF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20002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67AADB-995D-4024-9947-59C982E995DD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28625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987149-4B60-4649-A72D-42AFCB251390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3667125" cy="366712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D60E81-3F0F-473C-996A-42AE9688C0A8}"/>
              </a:ext>
            </a:extLst>
          </p:cNvPr>
          <p:cNvSpPr>
            <a:spLocks noGrp="1"/>
          </p:cNvSpPr>
          <p:nvPr/>
        </p:nvSpPr>
        <p:spPr>
          <a:xfrm>
            <a:off x="1238250" y="19526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347389-06B4-4B8E-8BBC-D1953C8423B1}"/>
              </a:ext>
            </a:extLst>
          </p:cNvPr>
          <p:cNvSpPr>
            <a:spLocks noGrp="1"/>
          </p:cNvSpPr>
          <p:nvPr/>
        </p:nvSpPr>
        <p:spPr>
          <a:xfrm>
            <a:off x="1524000" y="19526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5BB3E5-E9BF-4AFF-8B0D-63E103F1EF91}"/>
              </a:ext>
            </a:extLst>
          </p:cNvPr>
          <p:cNvSpPr>
            <a:spLocks noGrp="1"/>
          </p:cNvSpPr>
          <p:nvPr/>
        </p:nvSpPr>
        <p:spPr>
          <a:xfrm>
            <a:off x="1809750" y="19526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4E8CF1-7580-4E25-84A5-3F9F40091EF8}"/>
              </a:ext>
            </a:extLst>
          </p:cNvPr>
          <p:cNvSpPr>
            <a:spLocks noGrp="1"/>
          </p:cNvSpPr>
          <p:nvPr/>
        </p:nvSpPr>
        <p:spPr>
          <a:xfrm>
            <a:off x="2095500" y="19526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76F255-86AF-4A97-BB7D-8AE73D2DE779}"/>
              </a:ext>
            </a:extLst>
          </p:cNvPr>
          <p:cNvSpPr>
            <a:spLocks noGrp="1"/>
          </p:cNvSpPr>
          <p:nvPr/>
        </p:nvSpPr>
        <p:spPr>
          <a:xfrm>
            <a:off x="2381250" y="19526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15565B-3168-4681-9396-CB80943F2586}"/>
              </a:ext>
            </a:extLst>
          </p:cNvPr>
          <p:cNvSpPr>
            <a:spLocks noGrp="1"/>
          </p:cNvSpPr>
          <p:nvPr/>
        </p:nvSpPr>
        <p:spPr>
          <a:xfrm>
            <a:off x="2667000" y="19526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B012A4-DA37-451A-ABFF-6321F96FCE0A}"/>
              </a:ext>
            </a:extLst>
          </p:cNvPr>
          <p:cNvSpPr>
            <a:spLocks noGrp="1"/>
          </p:cNvSpPr>
          <p:nvPr/>
        </p:nvSpPr>
        <p:spPr>
          <a:xfrm>
            <a:off x="2952750" y="19526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EF98D0-7EB2-4005-8709-9708CAA7FEB3}"/>
              </a:ext>
            </a:extLst>
          </p:cNvPr>
          <p:cNvSpPr>
            <a:spLocks noGrp="1"/>
          </p:cNvSpPr>
          <p:nvPr/>
        </p:nvSpPr>
        <p:spPr>
          <a:xfrm>
            <a:off x="3238500" y="19526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2D80CB-F2C8-41A5-8BE8-CCB8A289149F}"/>
              </a:ext>
            </a:extLst>
          </p:cNvPr>
          <p:cNvSpPr>
            <a:spLocks noGrp="1"/>
          </p:cNvSpPr>
          <p:nvPr/>
        </p:nvSpPr>
        <p:spPr>
          <a:xfrm>
            <a:off x="1238250" y="22383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C8AD6B-E863-4186-A5BA-C97F684874AF}"/>
              </a:ext>
            </a:extLst>
          </p:cNvPr>
          <p:cNvSpPr>
            <a:spLocks noGrp="1"/>
          </p:cNvSpPr>
          <p:nvPr/>
        </p:nvSpPr>
        <p:spPr>
          <a:xfrm>
            <a:off x="1524000" y="22383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8990A5-160D-41E3-BA06-04972DB20A8D}"/>
              </a:ext>
            </a:extLst>
          </p:cNvPr>
          <p:cNvSpPr>
            <a:spLocks noGrp="1"/>
          </p:cNvSpPr>
          <p:nvPr/>
        </p:nvSpPr>
        <p:spPr>
          <a:xfrm>
            <a:off x="1809750" y="22383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169DE4-758F-4247-B84A-5561C043475E}"/>
              </a:ext>
            </a:extLst>
          </p:cNvPr>
          <p:cNvSpPr>
            <a:spLocks noGrp="1"/>
          </p:cNvSpPr>
          <p:nvPr/>
        </p:nvSpPr>
        <p:spPr>
          <a:xfrm>
            <a:off x="2095500" y="22383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D342F3-D7FF-4F0E-9D3C-DDDB5C735C74}"/>
              </a:ext>
            </a:extLst>
          </p:cNvPr>
          <p:cNvSpPr>
            <a:spLocks noGrp="1"/>
          </p:cNvSpPr>
          <p:nvPr/>
        </p:nvSpPr>
        <p:spPr>
          <a:xfrm>
            <a:off x="2381250" y="22383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0A2EC1-F587-45E0-A30C-DB83FD58D1AD}"/>
              </a:ext>
            </a:extLst>
          </p:cNvPr>
          <p:cNvSpPr>
            <a:spLocks noGrp="1"/>
          </p:cNvSpPr>
          <p:nvPr/>
        </p:nvSpPr>
        <p:spPr>
          <a:xfrm>
            <a:off x="2667000" y="22383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379988-63FC-4B62-B04A-ECDF37AEB9EF}"/>
              </a:ext>
            </a:extLst>
          </p:cNvPr>
          <p:cNvSpPr>
            <a:spLocks noGrp="1"/>
          </p:cNvSpPr>
          <p:nvPr/>
        </p:nvSpPr>
        <p:spPr>
          <a:xfrm>
            <a:off x="2952750" y="22383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B9A2C7-8910-4271-9549-1320915318B1}"/>
              </a:ext>
            </a:extLst>
          </p:cNvPr>
          <p:cNvSpPr>
            <a:spLocks noGrp="1"/>
          </p:cNvSpPr>
          <p:nvPr/>
        </p:nvSpPr>
        <p:spPr>
          <a:xfrm>
            <a:off x="3238500" y="22383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F1C1F0-7319-4270-9A03-030BA5049BC6}"/>
              </a:ext>
            </a:extLst>
          </p:cNvPr>
          <p:cNvSpPr>
            <a:spLocks noGrp="1"/>
          </p:cNvSpPr>
          <p:nvPr/>
        </p:nvSpPr>
        <p:spPr>
          <a:xfrm>
            <a:off x="1238250" y="25241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C11D42-5475-4C40-9C9A-C523FC7AA256}"/>
              </a:ext>
            </a:extLst>
          </p:cNvPr>
          <p:cNvSpPr>
            <a:spLocks noGrp="1"/>
          </p:cNvSpPr>
          <p:nvPr/>
        </p:nvSpPr>
        <p:spPr>
          <a:xfrm>
            <a:off x="1524000" y="25241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C992AFD-2ABF-49AF-9D1E-7A3E2CBBF5FE}"/>
              </a:ext>
            </a:extLst>
          </p:cNvPr>
          <p:cNvSpPr>
            <a:spLocks noGrp="1"/>
          </p:cNvSpPr>
          <p:nvPr/>
        </p:nvSpPr>
        <p:spPr>
          <a:xfrm>
            <a:off x="1809750" y="25241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AB2DA7-97E7-48D9-8ADB-2C62F0DB073A}"/>
              </a:ext>
            </a:extLst>
          </p:cNvPr>
          <p:cNvSpPr>
            <a:spLocks noGrp="1"/>
          </p:cNvSpPr>
          <p:nvPr/>
        </p:nvSpPr>
        <p:spPr>
          <a:xfrm>
            <a:off x="2095500" y="25241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D32924-36B1-40BC-A41D-6FDEFE97721B}"/>
              </a:ext>
            </a:extLst>
          </p:cNvPr>
          <p:cNvSpPr>
            <a:spLocks noGrp="1"/>
          </p:cNvSpPr>
          <p:nvPr/>
        </p:nvSpPr>
        <p:spPr>
          <a:xfrm>
            <a:off x="2381250" y="25241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CE71191-E475-4630-B5AA-0DF7FB29A312}"/>
              </a:ext>
            </a:extLst>
          </p:cNvPr>
          <p:cNvSpPr>
            <a:spLocks noGrp="1"/>
          </p:cNvSpPr>
          <p:nvPr/>
        </p:nvSpPr>
        <p:spPr>
          <a:xfrm>
            <a:off x="2667000" y="25241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47B815-6760-444C-9C1C-484130E744AA}"/>
              </a:ext>
            </a:extLst>
          </p:cNvPr>
          <p:cNvSpPr>
            <a:spLocks noGrp="1"/>
          </p:cNvSpPr>
          <p:nvPr/>
        </p:nvSpPr>
        <p:spPr>
          <a:xfrm>
            <a:off x="2952750" y="25241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14B0845-1F00-4E75-8C27-F4514F466255}"/>
              </a:ext>
            </a:extLst>
          </p:cNvPr>
          <p:cNvSpPr>
            <a:spLocks noGrp="1"/>
          </p:cNvSpPr>
          <p:nvPr/>
        </p:nvSpPr>
        <p:spPr>
          <a:xfrm>
            <a:off x="3238500" y="25241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1884041-1A35-476C-B7FA-254439EB1FEE}"/>
              </a:ext>
            </a:extLst>
          </p:cNvPr>
          <p:cNvSpPr>
            <a:spLocks noGrp="1"/>
          </p:cNvSpPr>
          <p:nvPr/>
        </p:nvSpPr>
        <p:spPr>
          <a:xfrm>
            <a:off x="1238250" y="28098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39CC7C1-C1FE-4FB0-B445-74262FE8A00B}"/>
              </a:ext>
            </a:extLst>
          </p:cNvPr>
          <p:cNvSpPr>
            <a:spLocks noGrp="1"/>
          </p:cNvSpPr>
          <p:nvPr/>
        </p:nvSpPr>
        <p:spPr>
          <a:xfrm>
            <a:off x="1524000" y="28098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F3BAAC-64F7-4041-9271-AE291D2C96E5}"/>
              </a:ext>
            </a:extLst>
          </p:cNvPr>
          <p:cNvSpPr>
            <a:spLocks noGrp="1"/>
          </p:cNvSpPr>
          <p:nvPr/>
        </p:nvSpPr>
        <p:spPr>
          <a:xfrm>
            <a:off x="1809750" y="28098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44D1CC-95D6-44FE-A0F7-2EC00CF47ADB}"/>
              </a:ext>
            </a:extLst>
          </p:cNvPr>
          <p:cNvSpPr>
            <a:spLocks noGrp="1"/>
          </p:cNvSpPr>
          <p:nvPr/>
        </p:nvSpPr>
        <p:spPr>
          <a:xfrm>
            <a:off x="2095500" y="28098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A70DE31-4DE1-4F23-819A-9F4847CF790E}"/>
              </a:ext>
            </a:extLst>
          </p:cNvPr>
          <p:cNvSpPr>
            <a:spLocks noGrp="1"/>
          </p:cNvSpPr>
          <p:nvPr/>
        </p:nvSpPr>
        <p:spPr>
          <a:xfrm>
            <a:off x="2381250" y="28098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CA226A4-44A0-49C7-ADB5-1BB92A55474B}"/>
              </a:ext>
            </a:extLst>
          </p:cNvPr>
          <p:cNvSpPr>
            <a:spLocks noGrp="1"/>
          </p:cNvSpPr>
          <p:nvPr/>
        </p:nvSpPr>
        <p:spPr>
          <a:xfrm>
            <a:off x="2667000" y="28098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2E582BA-1466-42B3-9162-53F7993FC96D}"/>
              </a:ext>
            </a:extLst>
          </p:cNvPr>
          <p:cNvSpPr>
            <a:spLocks noGrp="1"/>
          </p:cNvSpPr>
          <p:nvPr/>
        </p:nvSpPr>
        <p:spPr>
          <a:xfrm>
            <a:off x="2952750" y="28098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61EB499-7C8F-49A2-8556-C74DC749F65D}"/>
              </a:ext>
            </a:extLst>
          </p:cNvPr>
          <p:cNvSpPr>
            <a:spLocks noGrp="1"/>
          </p:cNvSpPr>
          <p:nvPr/>
        </p:nvSpPr>
        <p:spPr>
          <a:xfrm>
            <a:off x="3238500" y="28098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C206CCC-3202-4433-AC3F-FD0DAFF6297F}"/>
              </a:ext>
            </a:extLst>
          </p:cNvPr>
          <p:cNvSpPr>
            <a:spLocks noGrp="1"/>
          </p:cNvSpPr>
          <p:nvPr/>
        </p:nvSpPr>
        <p:spPr>
          <a:xfrm>
            <a:off x="1238250" y="30956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1416636-043B-4AD2-A8CE-E096D720E40C}"/>
              </a:ext>
            </a:extLst>
          </p:cNvPr>
          <p:cNvSpPr>
            <a:spLocks noGrp="1"/>
          </p:cNvSpPr>
          <p:nvPr/>
        </p:nvSpPr>
        <p:spPr>
          <a:xfrm>
            <a:off x="1524000" y="30956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34FBF53-7282-4FE3-873B-B923A7F9B109}"/>
              </a:ext>
            </a:extLst>
          </p:cNvPr>
          <p:cNvSpPr>
            <a:spLocks noGrp="1"/>
          </p:cNvSpPr>
          <p:nvPr/>
        </p:nvSpPr>
        <p:spPr>
          <a:xfrm>
            <a:off x="1809750" y="30956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AEA0504-BCD7-4A7A-B087-0A7040D06F9B}"/>
              </a:ext>
            </a:extLst>
          </p:cNvPr>
          <p:cNvSpPr>
            <a:spLocks noGrp="1"/>
          </p:cNvSpPr>
          <p:nvPr/>
        </p:nvSpPr>
        <p:spPr>
          <a:xfrm>
            <a:off x="2095500" y="30956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8CC2E26-2297-4EE2-95E5-BDA92E7A4C78}"/>
              </a:ext>
            </a:extLst>
          </p:cNvPr>
          <p:cNvSpPr>
            <a:spLocks noGrp="1"/>
          </p:cNvSpPr>
          <p:nvPr/>
        </p:nvSpPr>
        <p:spPr>
          <a:xfrm>
            <a:off x="2381250" y="30956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330FA2F-AF3C-4537-A4EB-475276B7A9F0}"/>
              </a:ext>
            </a:extLst>
          </p:cNvPr>
          <p:cNvSpPr>
            <a:spLocks noGrp="1"/>
          </p:cNvSpPr>
          <p:nvPr/>
        </p:nvSpPr>
        <p:spPr>
          <a:xfrm>
            <a:off x="2667000" y="30956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85ED4C0-8A13-4FC9-8D8C-6488054B713A}"/>
              </a:ext>
            </a:extLst>
          </p:cNvPr>
          <p:cNvSpPr>
            <a:spLocks noGrp="1"/>
          </p:cNvSpPr>
          <p:nvPr/>
        </p:nvSpPr>
        <p:spPr>
          <a:xfrm>
            <a:off x="2952750" y="30956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0CBD81D-7BED-4F95-87BE-59B20C56FD08}"/>
              </a:ext>
            </a:extLst>
          </p:cNvPr>
          <p:cNvSpPr>
            <a:spLocks noGrp="1"/>
          </p:cNvSpPr>
          <p:nvPr/>
        </p:nvSpPr>
        <p:spPr>
          <a:xfrm>
            <a:off x="3238500" y="30956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E7FADCA-3112-43BB-A05A-B90D726E8FE0}"/>
              </a:ext>
            </a:extLst>
          </p:cNvPr>
          <p:cNvSpPr>
            <a:spLocks noGrp="1"/>
          </p:cNvSpPr>
          <p:nvPr/>
        </p:nvSpPr>
        <p:spPr>
          <a:xfrm>
            <a:off x="1238250" y="33813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34C6DB-30F9-4900-AADC-5CDB62B2B84A}"/>
              </a:ext>
            </a:extLst>
          </p:cNvPr>
          <p:cNvSpPr>
            <a:spLocks noGrp="1"/>
          </p:cNvSpPr>
          <p:nvPr/>
        </p:nvSpPr>
        <p:spPr>
          <a:xfrm>
            <a:off x="1524000" y="33813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FED70F2-105D-4AE0-B75F-E1F98E18E25D}"/>
              </a:ext>
            </a:extLst>
          </p:cNvPr>
          <p:cNvSpPr>
            <a:spLocks noGrp="1"/>
          </p:cNvSpPr>
          <p:nvPr/>
        </p:nvSpPr>
        <p:spPr>
          <a:xfrm>
            <a:off x="1809750" y="33813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069C9ED-80FC-44DD-BE4E-9DB41AF3FFA8}"/>
              </a:ext>
            </a:extLst>
          </p:cNvPr>
          <p:cNvSpPr>
            <a:spLocks noGrp="1"/>
          </p:cNvSpPr>
          <p:nvPr/>
        </p:nvSpPr>
        <p:spPr>
          <a:xfrm>
            <a:off x="2095500" y="33813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C3F833D-CB46-4507-8A43-EC5980217116}"/>
              </a:ext>
            </a:extLst>
          </p:cNvPr>
          <p:cNvSpPr>
            <a:spLocks noGrp="1"/>
          </p:cNvSpPr>
          <p:nvPr/>
        </p:nvSpPr>
        <p:spPr>
          <a:xfrm>
            <a:off x="2381250" y="33813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73E21A8-4E59-4D07-85F5-313FDE2CBE13}"/>
              </a:ext>
            </a:extLst>
          </p:cNvPr>
          <p:cNvSpPr>
            <a:spLocks noGrp="1"/>
          </p:cNvSpPr>
          <p:nvPr/>
        </p:nvSpPr>
        <p:spPr>
          <a:xfrm>
            <a:off x="2667000" y="33813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B8F6C3A-397C-4E99-885E-F7F3AFCDF790}"/>
              </a:ext>
            </a:extLst>
          </p:cNvPr>
          <p:cNvSpPr>
            <a:spLocks noGrp="1"/>
          </p:cNvSpPr>
          <p:nvPr/>
        </p:nvSpPr>
        <p:spPr>
          <a:xfrm>
            <a:off x="2952750" y="33813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2A6A654-FD44-4927-B4A3-31CE3A5537F5}"/>
              </a:ext>
            </a:extLst>
          </p:cNvPr>
          <p:cNvSpPr>
            <a:spLocks noGrp="1"/>
          </p:cNvSpPr>
          <p:nvPr/>
        </p:nvSpPr>
        <p:spPr>
          <a:xfrm>
            <a:off x="3238500" y="33813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0715FF9-CAEE-4C14-9FBC-D90C30A3ACAA}"/>
              </a:ext>
            </a:extLst>
          </p:cNvPr>
          <p:cNvSpPr>
            <a:spLocks noGrp="1"/>
          </p:cNvSpPr>
          <p:nvPr/>
        </p:nvSpPr>
        <p:spPr>
          <a:xfrm>
            <a:off x="1238250" y="36671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3C4B298-CF85-4AB1-AEEA-BD8BD70E26E3}"/>
              </a:ext>
            </a:extLst>
          </p:cNvPr>
          <p:cNvSpPr>
            <a:spLocks noGrp="1"/>
          </p:cNvSpPr>
          <p:nvPr/>
        </p:nvSpPr>
        <p:spPr>
          <a:xfrm>
            <a:off x="1524000" y="36671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A7ED4C6-2095-460F-AFAB-1CFCE6E57ED6}"/>
              </a:ext>
            </a:extLst>
          </p:cNvPr>
          <p:cNvSpPr>
            <a:spLocks noGrp="1"/>
          </p:cNvSpPr>
          <p:nvPr/>
        </p:nvSpPr>
        <p:spPr>
          <a:xfrm>
            <a:off x="1809750" y="36671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3E4CB0D-7159-4EB4-A123-D73565B62B28}"/>
              </a:ext>
            </a:extLst>
          </p:cNvPr>
          <p:cNvSpPr>
            <a:spLocks noGrp="1"/>
          </p:cNvSpPr>
          <p:nvPr/>
        </p:nvSpPr>
        <p:spPr>
          <a:xfrm>
            <a:off x="2095500" y="36671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99B2B2E-2C02-4B52-AE61-7918F82A6C33}"/>
              </a:ext>
            </a:extLst>
          </p:cNvPr>
          <p:cNvSpPr>
            <a:spLocks noGrp="1"/>
          </p:cNvSpPr>
          <p:nvPr/>
        </p:nvSpPr>
        <p:spPr>
          <a:xfrm>
            <a:off x="2381250" y="36671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7EC8FB8-F881-4E6F-9DAC-5222BE2D5C34}"/>
              </a:ext>
            </a:extLst>
          </p:cNvPr>
          <p:cNvSpPr>
            <a:spLocks noGrp="1"/>
          </p:cNvSpPr>
          <p:nvPr/>
        </p:nvSpPr>
        <p:spPr>
          <a:xfrm>
            <a:off x="2667000" y="36671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85B1324-B847-4361-82D3-5F210A332C18}"/>
              </a:ext>
            </a:extLst>
          </p:cNvPr>
          <p:cNvSpPr>
            <a:spLocks noGrp="1"/>
          </p:cNvSpPr>
          <p:nvPr/>
        </p:nvSpPr>
        <p:spPr>
          <a:xfrm>
            <a:off x="2952750" y="366712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0CD0929-AC80-4303-A6CD-0187BAC03F91}"/>
              </a:ext>
            </a:extLst>
          </p:cNvPr>
          <p:cNvSpPr>
            <a:spLocks noGrp="1"/>
          </p:cNvSpPr>
          <p:nvPr/>
        </p:nvSpPr>
        <p:spPr>
          <a:xfrm>
            <a:off x="3238500" y="366712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23FA7D8-5A74-407E-AAD3-2EB3585D43A7}"/>
              </a:ext>
            </a:extLst>
          </p:cNvPr>
          <p:cNvSpPr>
            <a:spLocks noGrp="1"/>
          </p:cNvSpPr>
          <p:nvPr/>
        </p:nvSpPr>
        <p:spPr>
          <a:xfrm>
            <a:off x="1238250" y="39528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151B4C5-673E-4667-A8AA-7C22F9674CCE}"/>
              </a:ext>
            </a:extLst>
          </p:cNvPr>
          <p:cNvSpPr>
            <a:spLocks noGrp="1"/>
          </p:cNvSpPr>
          <p:nvPr/>
        </p:nvSpPr>
        <p:spPr>
          <a:xfrm>
            <a:off x="1524000" y="39528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6E7E752-BC0E-453D-B628-0A1A3EEB13D9}"/>
              </a:ext>
            </a:extLst>
          </p:cNvPr>
          <p:cNvSpPr>
            <a:spLocks noGrp="1"/>
          </p:cNvSpPr>
          <p:nvPr/>
        </p:nvSpPr>
        <p:spPr>
          <a:xfrm>
            <a:off x="1809750" y="39528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7D95DC0-4365-44C5-9CAE-A42A4FB3E94C}"/>
              </a:ext>
            </a:extLst>
          </p:cNvPr>
          <p:cNvSpPr>
            <a:spLocks noGrp="1"/>
          </p:cNvSpPr>
          <p:nvPr/>
        </p:nvSpPr>
        <p:spPr>
          <a:xfrm>
            <a:off x="2095500" y="39528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EADA113-EF0B-4C22-AC86-8F39D75E6E08}"/>
              </a:ext>
            </a:extLst>
          </p:cNvPr>
          <p:cNvSpPr>
            <a:spLocks noGrp="1"/>
          </p:cNvSpPr>
          <p:nvPr/>
        </p:nvSpPr>
        <p:spPr>
          <a:xfrm>
            <a:off x="2381250" y="39528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0D8D7CA-9BFD-4248-B9DE-3B21BA02E563}"/>
              </a:ext>
            </a:extLst>
          </p:cNvPr>
          <p:cNvSpPr>
            <a:spLocks noGrp="1"/>
          </p:cNvSpPr>
          <p:nvPr/>
        </p:nvSpPr>
        <p:spPr>
          <a:xfrm>
            <a:off x="2667000" y="39528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F9AD10A-EDDB-43D7-87EA-ABA4B22B8B4F}"/>
              </a:ext>
            </a:extLst>
          </p:cNvPr>
          <p:cNvSpPr>
            <a:spLocks noGrp="1"/>
          </p:cNvSpPr>
          <p:nvPr/>
        </p:nvSpPr>
        <p:spPr>
          <a:xfrm>
            <a:off x="2952750" y="3952875"/>
            <a:ext cx="285750" cy="28575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7A6842B-3DB5-49E2-A341-16294812BA03}"/>
              </a:ext>
            </a:extLst>
          </p:cNvPr>
          <p:cNvSpPr>
            <a:spLocks noGrp="1"/>
          </p:cNvSpPr>
          <p:nvPr/>
        </p:nvSpPr>
        <p:spPr>
          <a:xfrm>
            <a:off x="3238500" y="3952875"/>
            <a:ext cx="285750" cy="2857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C627D8B3-E99D-40A8-B725-9DB710FD0759}"/>
              </a:ext>
            </a:extLst>
          </p:cNvPr>
          <p:cNvSpPr>
            <a:spLocks noGrp="1"/>
          </p:cNvSpPr>
          <p:nvPr/>
        </p:nvSpPr>
        <p:spPr>
          <a:xfrm>
            <a:off x="1238250" y="4429125"/>
            <a:ext cx="228600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5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8×8 局部块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3BF3798-2AB7-4F75-B716-B0B3C228093E}"/>
              </a:ext>
            </a:extLst>
          </p:cNvPr>
          <p:cNvSpPr>
            <a:spLocks noGrp="1"/>
          </p:cNvSpPr>
          <p:nvPr/>
        </p:nvSpPr>
        <p:spPr>
          <a:xfrm>
            <a:off x="1238250" y="4752975"/>
            <a:ext cx="228600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低梯度像素不参与统计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B9F4002-918F-4097-B21A-B46A3A905A6E}"/>
              </a:ext>
            </a:extLst>
          </p:cNvPr>
          <p:cNvSpPr>
            <a:spLocks noGrp="1"/>
          </p:cNvSpPr>
          <p:nvPr/>
        </p:nvSpPr>
        <p:spPr>
          <a:xfrm>
            <a:off x="5286375" y="1619250"/>
            <a:ext cx="3429000" cy="20955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28B0F0F-4ACA-49E0-931D-A95D3DEC2E33}"/>
              </a:ext>
            </a:extLst>
          </p:cNvPr>
          <p:cNvSpPr>
            <a:spLocks noGrp="1"/>
          </p:cNvSpPr>
          <p:nvPr/>
        </p:nvSpPr>
        <p:spPr>
          <a:xfrm>
            <a:off x="5286375" y="1619250"/>
            <a:ext cx="57150" cy="2095500"/>
          </a:xfrm>
          <a:prstGeom prst="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B00FFCA-28A2-4E35-8B7E-287A2894A3EA}"/>
              </a:ext>
            </a:extLst>
          </p:cNvPr>
          <p:cNvSpPr>
            <a:spLocks noGrp="1"/>
          </p:cNvSpPr>
          <p:nvPr/>
        </p:nvSpPr>
        <p:spPr>
          <a:xfrm>
            <a:off x="5495925" y="1790700"/>
            <a:ext cx="310515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tensor 累加逻辑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8784D67-F229-483D-8897-B5385C2BA57A}"/>
              </a:ext>
            </a:extLst>
          </p:cNvPr>
          <p:cNvSpPr>
            <a:spLocks noGrp="1"/>
          </p:cNvSpPr>
          <p:nvPr/>
        </p:nvSpPr>
        <p:spPr>
          <a:xfrm>
            <a:off x="5495925" y="2152650"/>
            <a:ext cx="3086100" cy="14478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先把 Sobel 法线旋转为脊线切向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对 8×8 块累加 double-angle tensor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设置 MIN_BLOCK_VOTES 过滤弱纹理块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每个有效块输出一个主方向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96231FB-9287-4323-BDA6-8A8CC8317EDE}"/>
              </a:ext>
            </a:extLst>
          </p:cNvPr>
          <p:cNvSpPr>
            <a:spLocks noGrp="1"/>
          </p:cNvSpPr>
          <p:nvPr/>
        </p:nvSpPr>
        <p:spPr>
          <a:xfrm>
            <a:off x="5286375" y="4048125"/>
            <a:ext cx="342900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9BD21EF-6394-42EA-BDFD-2FB47A60C359}"/>
              </a:ext>
            </a:extLst>
          </p:cNvPr>
          <p:cNvSpPr>
            <a:spLocks noGrp="1"/>
          </p:cNvSpPr>
          <p:nvPr/>
        </p:nvSpPr>
        <p:spPr>
          <a:xfrm>
            <a:off x="5286375" y="4048125"/>
            <a:ext cx="57150" cy="17145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B4ACFF5-3636-4852-9AFF-1E69BCE9BD07}"/>
              </a:ext>
            </a:extLst>
          </p:cNvPr>
          <p:cNvSpPr>
            <a:spLocks noGrp="1"/>
          </p:cNvSpPr>
          <p:nvPr/>
        </p:nvSpPr>
        <p:spPr>
          <a:xfrm>
            <a:off x="5495925" y="4219575"/>
            <a:ext cx="310515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输出规模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BDB110E-3C32-406E-9AFA-D35913D7E5F1}"/>
              </a:ext>
            </a:extLst>
          </p:cNvPr>
          <p:cNvSpPr>
            <a:spLocks noGrp="1"/>
          </p:cNvSpPr>
          <p:nvPr/>
        </p:nvSpPr>
        <p:spPr>
          <a:xfrm>
            <a:off x="5495925" y="4581525"/>
            <a:ext cx="3086100" cy="10668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源图：256×256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块大小：8×8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方向场：32×32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显示时每块映射为 16×16 像素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A0778D2-7BA5-4DF7-824C-32E477084963}"/>
              </a:ext>
            </a:extLst>
          </p:cNvPr>
          <p:cNvSpPr>
            <a:spLocks noGrp="1"/>
          </p:cNvSpPr>
          <p:nvPr/>
        </p:nvSpPr>
        <p:spPr>
          <a:xfrm>
            <a:off x="9239250" y="2143125"/>
            <a:ext cx="1809750" cy="180975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9BE28B6-489E-4C1B-96B9-DBAEB860BDE7}"/>
              </a:ext>
            </a:extLst>
          </p:cNvPr>
          <p:cNvSpPr>
            <a:spLocks noGrp="1"/>
          </p:cNvSpPr>
          <p:nvPr/>
        </p:nvSpPr>
        <p:spPr>
          <a:xfrm>
            <a:off x="9429750" y="2428875"/>
            <a:ext cx="2857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2B0BBB8-8F82-4686-964C-E6E9610B3A6E}"/>
              </a:ext>
            </a:extLst>
          </p:cNvPr>
          <p:cNvSpPr>
            <a:spLocks noGrp="1"/>
          </p:cNvSpPr>
          <p:nvPr/>
        </p:nvSpPr>
        <p:spPr>
          <a:xfrm>
            <a:off x="9753600" y="2428875"/>
            <a:ext cx="2857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A17B92D-D597-4776-B647-6E615BC62AF7}"/>
              </a:ext>
            </a:extLst>
          </p:cNvPr>
          <p:cNvSpPr>
            <a:spLocks noGrp="1"/>
          </p:cNvSpPr>
          <p:nvPr/>
        </p:nvSpPr>
        <p:spPr>
          <a:xfrm>
            <a:off x="10077450" y="2428875"/>
            <a:ext cx="2857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0620B10-A9B8-44F1-B5EF-EDA82760F962}"/>
              </a:ext>
            </a:extLst>
          </p:cNvPr>
          <p:cNvSpPr>
            <a:spLocks noGrp="1"/>
          </p:cNvSpPr>
          <p:nvPr/>
        </p:nvSpPr>
        <p:spPr>
          <a:xfrm>
            <a:off x="10401300" y="2428875"/>
            <a:ext cx="2857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4546D83E-B327-4C61-8130-DE45C9031A27}"/>
              </a:ext>
            </a:extLst>
          </p:cNvPr>
          <p:cNvSpPr>
            <a:spLocks noGrp="1"/>
          </p:cNvSpPr>
          <p:nvPr/>
        </p:nvSpPr>
        <p:spPr>
          <a:xfrm>
            <a:off x="10725150" y="2428875"/>
            <a:ext cx="2857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D1D285F-884E-46CD-9E09-9CA1F6BF8F13}"/>
              </a:ext>
            </a:extLst>
          </p:cNvPr>
          <p:cNvSpPr>
            <a:spLocks noGrp="1"/>
          </p:cNvSpPr>
          <p:nvPr/>
        </p:nvSpPr>
        <p:spPr>
          <a:xfrm>
            <a:off x="9429750" y="3095625"/>
            <a:ext cx="2857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E7A4C82-A0E8-4F6C-915C-27DE08B578EA}"/>
              </a:ext>
            </a:extLst>
          </p:cNvPr>
          <p:cNvSpPr>
            <a:spLocks noGrp="1"/>
          </p:cNvSpPr>
          <p:nvPr/>
        </p:nvSpPr>
        <p:spPr>
          <a:xfrm>
            <a:off x="9753600" y="3095625"/>
            <a:ext cx="2857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0C81C19-65B7-4940-A44A-2A69B37A0B6C}"/>
              </a:ext>
            </a:extLst>
          </p:cNvPr>
          <p:cNvSpPr>
            <a:spLocks noGrp="1"/>
          </p:cNvSpPr>
          <p:nvPr/>
        </p:nvSpPr>
        <p:spPr>
          <a:xfrm>
            <a:off x="10077450" y="3095625"/>
            <a:ext cx="2857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C642F20-7224-4B5F-9853-8AED2A64BA39}"/>
              </a:ext>
            </a:extLst>
          </p:cNvPr>
          <p:cNvSpPr>
            <a:spLocks noGrp="1"/>
          </p:cNvSpPr>
          <p:nvPr/>
        </p:nvSpPr>
        <p:spPr>
          <a:xfrm>
            <a:off x="10401300" y="3095625"/>
            <a:ext cx="2857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CEC81A7-CC19-4DB8-BE14-1C1F9A3BF54C}"/>
              </a:ext>
            </a:extLst>
          </p:cNvPr>
          <p:cNvSpPr>
            <a:spLocks noGrp="1"/>
          </p:cNvSpPr>
          <p:nvPr/>
        </p:nvSpPr>
        <p:spPr>
          <a:xfrm>
            <a:off x="10725150" y="3095625"/>
            <a:ext cx="2857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DC84A2C-8C8D-4D57-BF21-F91F71670302}"/>
              </a:ext>
            </a:extLst>
          </p:cNvPr>
          <p:cNvSpPr>
            <a:spLocks noGrp="1"/>
          </p:cNvSpPr>
          <p:nvPr/>
        </p:nvSpPr>
        <p:spPr>
          <a:xfrm>
            <a:off x="8953500" y="4333875"/>
            <a:ext cx="2381250" cy="4000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方向线来自块级主方向</a:t>
            </a:r>
          </a:p>
        </p:txBody>
      </p:sp>
    </p:spTree>
    <p:extLst>
      <p:ext uri="{BB962C8B-B14F-4D97-AF65-F5344CB8AC3E}">
        <p14:creationId xmlns:p14="http://schemas.microsoft.com/office/powerpoint/2010/main" val="1561078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BBABAD51-7767-4F31-8FCC-381B95FE5E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644AE5-39E7-4F9B-A8E2-66C2050FE8D9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8953500" cy="4572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方向场可视化结果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DD5C39-6A74-42F0-A7BE-5C4D1FB946AF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灰度指纹背景叠加红色脊线方向线，HDMI 输出后可在 OBS 中观察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38001C-CE9B-4F62-9CE3-C5135BA9A8C1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20002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964692-A974-4BE8-9AA9-CC1B529660BA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28625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67D974-4B7C-4140-B93B-41419BF03F4F}"/>
              </a:ext>
            </a:extLst>
          </p:cNvPr>
          <p:cNvSpPr>
            <a:spLocks noGrp="1"/>
          </p:cNvSpPr>
          <p:nvPr/>
        </p:nvSpPr>
        <p:spPr>
          <a:xfrm>
            <a:off x="876300" y="1409700"/>
            <a:ext cx="4743450" cy="47434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" y="1562100"/>
            <a:ext cx="4438650" cy="44386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5AFAE86-8BAD-465D-A6FF-87152C77D9E2}"/>
              </a:ext>
            </a:extLst>
          </p:cNvPr>
          <p:cNvSpPr>
            <a:spLocks noGrp="1"/>
          </p:cNvSpPr>
          <p:nvPr/>
        </p:nvSpPr>
        <p:spPr>
          <a:xfrm>
            <a:off x="1028700" y="6076950"/>
            <a:ext cx="4438650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输入灰度图像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59939A-47A6-4EBB-ABBF-00FE3526B5C6}"/>
              </a:ext>
            </a:extLst>
          </p:cNvPr>
          <p:cNvSpPr>
            <a:spLocks noGrp="1"/>
          </p:cNvSpPr>
          <p:nvPr/>
        </p:nvSpPr>
        <p:spPr>
          <a:xfrm>
            <a:off x="6572250" y="1409700"/>
            <a:ext cx="4743450" cy="47434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B09842-A712-4E35-95DB-63C74C9F8A82}"/>
              </a:ext>
            </a:extLst>
          </p:cNvPr>
          <p:cNvSpPr>
            <a:spLocks noGrp="1"/>
          </p:cNvSpPr>
          <p:nvPr/>
        </p:nvSpPr>
        <p:spPr>
          <a:xfrm>
            <a:off x="6724650" y="6076950"/>
            <a:ext cx="4438650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输出方向场叠加结果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655BFD-B1E5-4B75-907A-280213D03015}"/>
              </a:ext>
            </a:extLst>
          </p:cNvPr>
          <p:cNvSpPr>
            <a:spLocks noGrp="1"/>
          </p:cNvSpPr>
          <p:nvPr/>
        </p:nvSpPr>
        <p:spPr>
          <a:xfrm>
            <a:off x="5810250" y="3381375"/>
            <a:ext cx="552450" cy="4000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25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B0BDF46-7153-5961-6E24-85D4A6BCD795}"/>
              </a:ext>
            </a:extLst>
          </p:cNvPr>
          <p:cNvPicPr>
            <a:picLocks/>
          </p:cNvPicPr>
          <p:nvPr/>
        </p:nvPicPr>
        <p:blipFill>
          <a:blip r:embed="rId4"/>
          <a:srcRect r="23737"/>
          <a:stretch>
            <a:fillRect/>
          </a:stretch>
        </p:blipFill>
        <p:spPr>
          <a:xfrm>
            <a:off x="6724650" y="1619520"/>
            <a:ext cx="4394200" cy="43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39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D330BC59-2360-4ECC-952A-F8A8701086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D1504F-82E9-4EED-B4F3-C12CA7F1A66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8953500" cy="4572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FPGA 实现结构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D0E4C1-59EB-4F31-A75D-6B7BC1DB83B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模块化组织，便于从静态 ROM 输入切换到后续摄像头/DDR3 输入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D6AA6F-C02A-49AD-893E-128166E2DCDF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20002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BE81EF-9C16-4F5A-B4C5-389665B99E11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28625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945C3D-CD05-4764-A062-988C9B88FC4A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143000" cy="409575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B29F5E-923A-4AD8-8CDF-B1CEB5BD98E3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990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193226-1125-42B7-B7A4-D95D98F2991C}"/>
              </a:ext>
            </a:extLst>
          </p:cNvPr>
          <p:cNvSpPr>
            <a:spLocks noGrp="1"/>
          </p:cNvSpPr>
          <p:nvPr/>
        </p:nvSpPr>
        <p:spPr>
          <a:xfrm>
            <a:off x="1809750" y="1571625"/>
            <a:ext cx="3429000" cy="409575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2A1908-AB73-45AA-8BAF-1B4C949958E7}"/>
              </a:ext>
            </a:extLst>
          </p:cNvPr>
          <p:cNvSpPr>
            <a:spLocks noGrp="1"/>
          </p:cNvSpPr>
          <p:nvPr/>
        </p:nvSpPr>
        <p:spPr>
          <a:xfrm>
            <a:off x="1885950" y="1657350"/>
            <a:ext cx="3276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C73594-AFB8-4E3A-A9E4-3E16BF02C4FE}"/>
              </a:ext>
            </a:extLst>
          </p:cNvPr>
          <p:cNvSpPr>
            <a:spLocks noGrp="1"/>
          </p:cNvSpPr>
          <p:nvPr/>
        </p:nvSpPr>
        <p:spPr>
          <a:xfrm>
            <a:off x="5238750" y="1571625"/>
            <a:ext cx="6191250" cy="409575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B9DDB-DCEB-442E-832F-5E127EA41FD1}"/>
              </a:ext>
            </a:extLst>
          </p:cNvPr>
          <p:cNvSpPr>
            <a:spLocks noGrp="1"/>
          </p:cNvSpPr>
          <p:nvPr/>
        </p:nvSpPr>
        <p:spPr>
          <a:xfrm>
            <a:off x="5314950" y="1657350"/>
            <a:ext cx="603885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B1976C-CE20-4769-975C-4D5F9E02644A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114300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2E8ED4-8F05-4314-98CE-C06565D0D9B4}"/>
              </a:ext>
            </a:extLst>
          </p:cNvPr>
          <p:cNvSpPr>
            <a:spLocks noGrp="1"/>
          </p:cNvSpPr>
          <p:nvPr/>
        </p:nvSpPr>
        <p:spPr>
          <a:xfrm>
            <a:off x="742950" y="2066925"/>
            <a:ext cx="990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5AE683-3841-4684-AE15-E149FCBC9F8E}"/>
              </a:ext>
            </a:extLst>
          </p:cNvPr>
          <p:cNvSpPr>
            <a:spLocks noGrp="1"/>
          </p:cNvSpPr>
          <p:nvPr/>
        </p:nvSpPr>
        <p:spPr>
          <a:xfrm>
            <a:off x="1809750" y="1981200"/>
            <a:ext cx="342900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0F8307-6BA3-4418-88F8-E145267220D5}"/>
              </a:ext>
            </a:extLst>
          </p:cNvPr>
          <p:cNvSpPr>
            <a:spLocks noGrp="1"/>
          </p:cNvSpPr>
          <p:nvPr/>
        </p:nvSpPr>
        <p:spPr>
          <a:xfrm>
            <a:off x="1885950" y="2066925"/>
            <a:ext cx="3276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image_static_mem_source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3872EC-F62F-4C87-B5C0-1CD680BE0B1D}"/>
              </a:ext>
            </a:extLst>
          </p:cNvPr>
          <p:cNvSpPr>
            <a:spLocks noGrp="1"/>
          </p:cNvSpPr>
          <p:nvPr/>
        </p:nvSpPr>
        <p:spPr>
          <a:xfrm>
            <a:off x="5238750" y="1981200"/>
            <a:ext cx="619125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43A94C-84F3-4217-AD02-CC4A3A74EB23}"/>
              </a:ext>
            </a:extLst>
          </p:cNvPr>
          <p:cNvSpPr>
            <a:spLocks noGrp="1"/>
          </p:cNvSpPr>
          <p:nvPr/>
        </p:nvSpPr>
        <p:spPr>
          <a:xfrm>
            <a:off x="5314950" y="2066925"/>
            <a:ext cx="603885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三张灰度图像 ROM 与 SW[1:0] 选择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D47068-0010-4E52-896D-7208FCE8FC0B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1143000" cy="40957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924602-1D63-48DF-8A90-AFBE5C7F6DB2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990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窗口层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98D2C7-6A0D-4F83-B620-A97AB66A92BC}"/>
              </a:ext>
            </a:extLst>
          </p:cNvPr>
          <p:cNvSpPr>
            <a:spLocks noGrp="1"/>
          </p:cNvSpPr>
          <p:nvPr/>
        </p:nvSpPr>
        <p:spPr>
          <a:xfrm>
            <a:off x="1809750" y="2390775"/>
            <a:ext cx="3429000" cy="40957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EBE0C9-317E-4CA3-B072-3C7A72BC75BA}"/>
              </a:ext>
            </a:extLst>
          </p:cNvPr>
          <p:cNvSpPr>
            <a:spLocks noGrp="1"/>
          </p:cNvSpPr>
          <p:nvPr/>
        </p:nvSpPr>
        <p:spPr>
          <a:xfrm>
            <a:off x="1885950" y="2476500"/>
            <a:ext cx="3276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pixel_window_3x3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942AB0-A744-463B-9452-B0419A2DCF6F}"/>
              </a:ext>
            </a:extLst>
          </p:cNvPr>
          <p:cNvSpPr>
            <a:spLocks noGrp="1"/>
          </p:cNvSpPr>
          <p:nvPr/>
        </p:nvSpPr>
        <p:spPr>
          <a:xfrm>
            <a:off x="5238750" y="2390775"/>
            <a:ext cx="6191250" cy="40957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4C00FA-50F8-4D44-BE23-BF22A32413C5}"/>
              </a:ext>
            </a:extLst>
          </p:cNvPr>
          <p:cNvSpPr>
            <a:spLocks noGrp="1"/>
          </p:cNvSpPr>
          <p:nvPr/>
        </p:nvSpPr>
        <p:spPr>
          <a:xfrm>
            <a:off x="5314950" y="2476500"/>
            <a:ext cx="603885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 Sobel 提供 3×3 邻域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91FD87-3B21-4D2A-918C-50710EB9DA11}"/>
              </a:ext>
            </a:extLst>
          </p:cNvPr>
          <p:cNvSpPr>
            <a:spLocks noGrp="1"/>
          </p:cNvSpPr>
          <p:nvPr/>
        </p:nvSpPr>
        <p:spPr>
          <a:xfrm>
            <a:off x="666750" y="2800350"/>
            <a:ext cx="114300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8D0E4B-7B11-437B-84A8-32F32A6D76E2}"/>
              </a:ext>
            </a:extLst>
          </p:cNvPr>
          <p:cNvSpPr>
            <a:spLocks noGrp="1"/>
          </p:cNvSpPr>
          <p:nvPr/>
        </p:nvSpPr>
        <p:spPr>
          <a:xfrm>
            <a:off x="742950" y="2886075"/>
            <a:ext cx="990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梯度层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8A7850-F04F-4FD4-8B65-B37B41E0B6FA}"/>
              </a:ext>
            </a:extLst>
          </p:cNvPr>
          <p:cNvSpPr>
            <a:spLocks noGrp="1"/>
          </p:cNvSpPr>
          <p:nvPr/>
        </p:nvSpPr>
        <p:spPr>
          <a:xfrm>
            <a:off x="1809750" y="2800350"/>
            <a:ext cx="342900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A0DD54E-1B64-4B57-8288-9EE9B337E426}"/>
              </a:ext>
            </a:extLst>
          </p:cNvPr>
          <p:cNvSpPr>
            <a:spLocks noGrp="1"/>
          </p:cNvSpPr>
          <p:nvPr/>
        </p:nvSpPr>
        <p:spPr>
          <a:xfrm>
            <a:off x="1885950" y="2886075"/>
            <a:ext cx="3276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sobel_core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4442B10-5807-43DA-BC19-58B889D2E4F6}"/>
              </a:ext>
            </a:extLst>
          </p:cNvPr>
          <p:cNvSpPr>
            <a:spLocks noGrp="1"/>
          </p:cNvSpPr>
          <p:nvPr/>
        </p:nvSpPr>
        <p:spPr>
          <a:xfrm>
            <a:off x="5238750" y="2800350"/>
            <a:ext cx="619125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A917A9C-300C-46B9-92C1-E7F0C4C2FEC2}"/>
              </a:ext>
            </a:extLst>
          </p:cNvPr>
          <p:cNvSpPr>
            <a:spLocks noGrp="1"/>
          </p:cNvSpPr>
          <p:nvPr/>
        </p:nvSpPr>
        <p:spPr>
          <a:xfrm>
            <a:off x="5314950" y="2886075"/>
            <a:ext cx="603885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 Gx / Gy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BF94A8B-DC15-49F7-9422-30D7C6304B2B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1143000" cy="40957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F71C81A-D6AA-471E-8785-5B379911B1E3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990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统计层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DCBE8E1-CCF9-4954-AED6-C070716E7AE6}"/>
              </a:ext>
            </a:extLst>
          </p:cNvPr>
          <p:cNvSpPr>
            <a:spLocks noGrp="1"/>
          </p:cNvSpPr>
          <p:nvPr/>
        </p:nvSpPr>
        <p:spPr>
          <a:xfrm>
            <a:off x="1809750" y="3209925"/>
            <a:ext cx="3429000" cy="40957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B3220A2-4E19-4636-8F0D-9B2FB5F86C7A}"/>
              </a:ext>
            </a:extLst>
          </p:cNvPr>
          <p:cNvSpPr>
            <a:spLocks noGrp="1"/>
          </p:cNvSpPr>
          <p:nvPr/>
        </p:nvSpPr>
        <p:spPr>
          <a:xfrm>
            <a:off x="1885950" y="3295650"/>
            <a:ext cx="3276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block_tensor_stat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445F70E-7356-4823-BED8-25B62EF07AB4}"/>
              </a:ext>
            </a:extLst>
          </p:cNvPr>
          <p:cNvSpPr>
            <a:spLocks noGrp="1"/>
          </p:cNvSpPr>
          <p:nvPr/>
        </p:nvSpPr>
        <p:spPr>
          <a:xfrm>
            <a:off x="5238750" y="3209925"/>
            <a:ext cx="6191250" cy="40957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227EDEF-7A4D-4D97-8EFD-1CA04CDF5C9D}"/>
              </a:ext>
            </a:extLst>
          </p:cNvPr>
          <p:cNvSpPr>
            <a:spLocks noGrp="1"/>
          </p:cNvSpPr>
          <p:nvPr/>
        </p:nvSpPr>
        <p:spPr>
          <a:xfrm>
            <a:off x="5314950" y="3295650"/>
            <a:ext cx="603885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8×8 局部块方向统计与置信度筛选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086FD75-767D-4BB8-A586-E01EBF569DE5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114300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11F7609-AFE7-4F55-A896-2B9C4BDD4D4E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990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角度层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EC281B1-5B28-4177-9D12-210CBBB88F8A}"/>
              </a:ext>
            </a:extLst>
          </p:cNvPr>
          <p:cNvSpPr>
            <a:spLocks noGrp="1"/>
          </p:cNvSpPr>
          <p:nvPr/>
        </p:nvSpPr>
        <p:spPr>
          <a:xfrm>
            <a:off x="1809750" y="3619500"/>
            <a:ext cx="342900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E6B950E-AFB4-4327-A9CB-69AEE69089FD}"/>
              </a:ext>
            </a:extLst>
          </p:cNvPr>
          <p:cNvSpPr>
            <a:spLocks noGrp="1"/>
          </p:cNvSpPr>
          <p:nvPr/>
        </p:nvSpPr>
        <p:spPr>
          <a:xfrm>
            <a:off x="1885950" y="3705225"/>
            <a:ext cx="3276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cordic_tensor_direction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8932E76-BC5F-4474-B729-5F709AC8A533}"/>
              </a:ext>
            </a:extLst>
          </p:cNvPr>
          <p:cNvSpPr>
            <a:spLocks noGrp="1"/>
          </p:cNvSpPr>
          <p:nvPr/>
        </p:nvSpPr>
        <p:spPr>
          <a:xfrm>
            <a:off x="5238750" y="3619500"/>
            <a:ext cx="619125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B4F9726-A36E-470E-B6CD-D6A533453224}"/>
              </a:ext>
            </a:extLst>
          </p:cNvPr>
          <p:cNvSpPr>
            <a:spLocks noGrp="1"/>
          </p:cNvSpPr>
          <p:nvPr/>
        </p:nvSpPr>
        <p:spPr>
          <a:xfrm>
            <a:off x="5314950" y="3705225"/>
            <a:ext cx="603885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CORDIC atan2 与 8 方向量化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539C15D-8109-43DF-B21B-79FB61E87EA9}"/>
              </a:ext>
            </a:extLst>
          </p:cNvPr>
          <p:cNvSpPr>
            <a:spLocks noGrp="1"/>
          </p:cNvSpPr>
          <p:nvPr/>
        </p:nvSpPr>
        <p:spPr>
          <a:xfrm>
            <a:off x="666750" y="4029075"/>
            <a:ext cx="1143000" cy="40957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3ABCF44-AF50-4047-B103-F0A1DDE1A6C0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990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047AB80-008F-4002-A125-77CCF9928FF8}"/>
              </a:ext>
            </a:extLst>
          </p:cNvPr>
          <p:cNvSpPr>
            <a:spLocks noGrp="1"/>
          </p:cNvSpPr>
          <p:nvPr/>
        </p:nvSpPr>
        <p:spPr>
          <a:xfrm>
            <a:off x="1809750" y="4029075"/>
            <a:ext cx="3429000" cy="40957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97ACF5B-0611-4B89-96AA-90C08C21BC00}"/>
              </a:ext>
            </a:extLst>
          </p:cNvPr>
          <p:cNvSpPr>
            <a:spLocks noGrp="1"/>
          </p:cNvSpPr>
          <p:nvPr/>
        </p:nvSpPr>
        <p:spPr>
          <a:xfrm>
            <a:off x="1885950" y="4114800"/>
            <a:ext cx="3276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direction_field_buffer / renderer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DAAC949-DF26-4077-9274-EC357AE49FA5}"/>
              </a:ext>
            </a:extLst>
          </p:cNvPr>
          <p:cNvSpPr>
            <a:spLocks noGrp="1"/>
          </p:cNvSpPr>
          <p:nvPr/>
        </p:nvSpPr>
        <p:spPr>
          <a:xfrm>
            <a:off x="5238750" y="4029075"/>
            <a:ext cx="6191250" cy="40957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D489DB2-7748-4014-BE8F-7CC7C822F4CE}"/>
              </a:ext>
            </a:extLst>
          </p:cNvPr>
          <p:cNvSpPr>
            <a:spLocks noGrp="1"/>
          </p:cNvSpPr>
          <p:nvPr/>
        </p:nvSpPr>
        <p:spPr>
          <a:xfrm>
            <a:off x="5314950" y="4114800"/>
            <a:ext cx="603885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缓存 32×32 方向场并渲染红色线段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A3F1BB0-0B31-42BB-97D0-C6A286BEB167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114300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46EF0B8-D9FB-4CBE-B558-A5007D70A05C}"/>
              </a:ext>
            </a:extLst>
          </p:cNvPr>
          <p:cNvSpPr>
            <a:spLocks noGrp="1"/>
          </p:cNvSpPr>
          <p:nvPr/>
        </p:nvSpPr>
        <p:spPr>
          <a:xfrm>
            <a:off x="742950" y="4524375"/>
            <a:ext cx="990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顶层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6B5BABB-56BC-40E7-A164-9038884621DC}"/>
              </a:ext>
            </a:extLst>
          </p:cNvPr>
          <p:cNvSpPr>
            <a:spLocks noGrp="1"/>
          </p:cNvSpPr>
          <p:nvPr/>
        </p:nvSpPr>
        <p:spPr>
          <a:xfrm>
            <a:off x="1809750" y="4438650"/>
            <a:ext cx="342900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6A6E0BC-8C16-4141-B72E-46FCEA7B4E71}"/>
              </a:ext>
            </a:extLst>
          </p:cNvPr>
          <p:cNvSpPr>
            <a:spLocks noGrp="1"/>
          </p:cNvSpPr>
          <p:nvPr/>
        </p:nvSpPr>
        <p:spPr>
          <a:xfrm>
            <a:off x="1885950" y="4524375"/>
            <a:ext cx="327660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fingerprint_ref_hdmi_static_top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06749F0-D442-498F-AB61-0DF31CF2F8D2}"/>
              </a:ext>
            </a:extLst>
          </p:cNvPr>
          <p:cNvSpPr>
            <a:spLocks noGrp="1"/>
          </p:cNvSpPr>
          <p:nvPr/>
        </p:nvSpPr>
        <p:spPr>
          <a:xfrm>
            <a:off x="5238750" y="4438650"/>
            <a:ext cx="6191250" cy="40957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7F99F3D-CE97-47C6-9620-1C535171EC52}"/>
              </a:ext>
            </a:extLst>
          </p:cNvPr>
          <p:cNvSpPr>
            <a:spLocks noGrp="1"/>
          </p:cNvSpPr>
          <p:nvPr/>
        </p:nvSpPr>
        <p:spPr>
          <a:xfrm>
            <a:off x="5314950" y="4524375"/>
            <a:ext cx="6038850" cy="2952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连接时钟、算法链路和 HDMI 输出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412C3AC-EB41-4B87-91B8-ED838C8D8090}"/>
              </a:ext>
            </a:extLst>
          </p:cNvPr>
          <p:cNvSpPr>
            <a:spLocks noGrp="1"/>
          </p:cNvSpPr>
          <p:nvPr/>
        </p:nvSpPr>
        <p:spPr>
          <a:xfrm>
            <a:off x="904875" y="5810250"/>
            <a:ext cx="1019175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5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当前顶层：fingerprint_ref_hdmi_static_top    器件：XC7A75T-2FGG484</a:t>
            </a:r>
          </a:p>
        </p:txBody>
      </p:sp>
    </p:spTree>
    <p:extLst>
      <p:ext uri="{BB962C8B-B14F-4D97-AF65-F5344CB8AC3E}">
        <p14:creationId xmlns:p14="http://schemas.microsoft.com/office/powerpoint/2010/main" val="59843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CD6FF729-2A7F-4A71-B6D0-A275553FF1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4F6098-1ECE-4E08-997B-6E38F113CC9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8953500" cy="4572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仿真与测试结果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660EBD-F0B2-4635-8655-C0F3491C6C1C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使用 Vivado batch 脚本验证输入、算法、HDMI 渲染和综合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BEFD75-076E-4AEA-B866-5C5562126BF1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20002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EFBA10-BDA5-4918-A9E6-3EC5B5CE1ADA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28625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503E80-BCD3-4F8D-B7E4-FF92DCB5CC69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2095500" cy="4572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542DEA-DFC5-46CE-B9BE-D75C728A0660}"/>
              </a:ext>
            </a:extLst>
          </p:cNvPr>
          <p:cNvSpPr>
            <a:spLocks noGrp="1"/>
          </p:cNvSpPr>
          <p:nvPr/>
        </p:nvSpPr>
        <p:spPr>
          <a:xfrm>
            <a:off x="742950" y="1609725"/>
            <a:ext cx="194310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63EBA8-C000-442A-8B3D-62E3053A29B0}"/>
              </a:ext>
            </a:extLst>
          </p:cNvPr>
          <p:cNvSpPr>
            <a:spLocks noGrp="1"/>
          </p:cNvSpPr>
          <p:nvPr/>
        </p:nvSpPr>
        <p:spPr>
          <a:xfrm>
            <a:off x="2762250" y="1524000"/>
            <a:ext cx="4095750" cy="4572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F07F42-1888-4AFB-A50F-841AB6B0E419}"/>
              </a:ext>
            </a:extLst>
          </p:cNvPr>
          <p:cNvSpPr>
            <a:spLocks noGrp="1"/>
          </p:cNvSpPr>
          <p:nvPr/>
        </p:nvSpPr>
        <p:spPr>
          <a:xfrm>
            <a:off x="2838450" y="16097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F0460B-B61D-42C6-BE3B-904A2C7E4DA8}"/>
              </a:ext>
            </a:extLst>
          </p:cNvPr>
          <p:cNvSpPr>
            <a:spLocks noGrp="1"/>
          </p:cNvSpPr>
          <p:nvPr/>
        </p:nvSpPr>
        <p:spPr>
          <a:xfrm>
            <a:off x="6858000" y="1524000"/>
            <a:ext cx="4095750" cy="4572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7A846A-5019-4A96-88CF-AF789D34DF6F}"/>
              </a:ext>
            </a:extLst>
          </p:cNvPr>
          <p:cNvSpPr>
            <a:spLocks noGrp="1"/>
          </p:cNvSpPr>
          <p:nvPr/>
        </p:nvSpPr>
        <p:spPr>
          <a:xfrm>
            <a:off x="6934200" y="16097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期望结果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7F0038-0EAB-4B43-89E6-E7A1F9F3796B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20955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E463B4-2A13-4D1E-B262-37E688778DD5}"/>
              </a:ext>
            </a:extLst>
          </p:cNvPr>
          <p:cNvSpPr>
            <a:spLocks noGrp="1"/>
          </p:cNvSpPr>
          <p:nvPr/>
        </p:nvSpPr>
        <p:spPr>
          <a:xfrm>
            <a:off x="742950" y="2066925"/>
            <a:ext cx="194310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静态图像源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B8C7E7-8F9F-4026-9105-7DD04F0657ED}"/>
              </a:ext>
            </a:extLst>
          </p:cNvPr>
          <p:cNvSpPr>
            <a:spLocks noGrp="1"/>
          </p:cNvSpPr>
          <p:nvPr/>
        </p:nvSpPr>
        <p:spPr>
          <a:xfrm>
            <a:off x="2762250" y="1981200"/>
            <a:ext cx="409575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0B7945-08B6-4BBE-A293-27855CCD0E93}"/>
              </a:ext>
            </a:extLst>
          </p:cNvPr>
          <p:cNvSpPr>
            <a:spLocks noGrp="1"/>
          </p:cNvSpPr>
          <p:nvPr/>
        </p:nvSpPr>
        <p:spPr>
          <a:xfrm>
            <a:off x="2838450" y="20669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run_xsim_static_source.tcl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37BAA3-2F36-46B7-B89E-2FFF0572AF82}"/>
              </a:ext>
            </a:extLst>
          </p:cNvPr>
          <p:cNvSpPr>
            <a:spLocks noGrp="1"/>
          </p:cNvSpPr>
          <p:nvPr/>
        </p:nvSpPr>
        <p:spPr>
          <a:xfrm>
            <a:off x="6858000" y="1981200"/>
            <a:ext cx="409575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BA050D-39E4-4EEB-9141-4116F7739DDF}"/>
              </a:ext>
            </a:extLst>
          </p:cNvPr>
          <p:cNvSpPr>
            <a:spLocks noGrp="1"/>
          </p:cNvSpPr>
          <p:nvPr/>
        </p:nvSpPr>
        <p:spPr>
          <a:xfrm>
            <a:off x="6934200" y="20669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STATIC_SOURCE_TEST_PASS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219506-A82C-4D69-AA5C-EC2DFAD0551E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2095500" cy="4572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9019C8-FE1D-4340-AD08-6E7C35EDEED8}"/>
              </a:ext>
            </a:extLst>
          </p:cNvPr>
          <p:cNvSpPr>
            <a:spLocks noGrp="1"/>
          </p:cNvSpPr>
          <p:nvPr/>
        </p:nvSpPr>
        <p:spPr>
          <a:xfrm>
            <a:off x="742950" y="2524125"/>
            <a:ext cx="194310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静态算法顶层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C2236B-829E-47C9-915F-811F68D809BC}"/>
              </a:ext>
            </a:extLst>
          </p:cNvPr>
          <p:cNvSpPr>
            <a:spLocks noGrp="1"/>
          </p:cNvSpPr>
          <p:nvPr/>
        </p:nvSpPr>
        <p:spPr>
          <a:xfrm>
            <a:off x="2762250" y="2438400"/>
            <a:ext cx="4095750" cy="4572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AA3CD7-4653-4D84-9110-A88FA1EACDB7}"/>
              </a:ext>
            </a:extLst>
          </p:cNvPr>
          <p:cNvSpPr>
            <a:spLocks noGrp="1"/>
          </p:cNvSpPr>
          <p:nvPr/>
        </p:nvSpPr>
        <p:spPr>
          <a:xfrm>
            <a:off x="2838450" y="25241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run_xsim_static_top.tcl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29B10B-0C25-4C1E-B81D-49276690C01D}"/>
              </a:ext>
            </a:extLst>
          </p:cNvPr>
          <p:cNvSpPr>
            <a:spLocks noGrp="1"/>
          </p:cNvSpPr>
          <p:nvPr/>
        </p:nvSpPr>
        <p:spPr>
          <a:xfrm>
            <a:off x="6858000" y="2438400"/>
            <a:ext cx="4095750" cy="4572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32B483B-3086-4C22-8C1E-509A14FCC48F}"/>
              </a:ext>
            </a:extLst>
          </p:cNvPr>
          <p:cNvSpPr>
            <a:spLocks noGrp="1"/>
          </p:cNvSpPr>
          <p:nvPr/>
        </p:nvSpPr>
        <p:spPr>
          <a:xfrm>
            <a:off x="6934200" y="25241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STATIC_TOP_TEST_PASS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72C102-B008-4A04-BB56-559D73AA6EC8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20955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7F2019-B86A-45F2-B91C-D9DAB555FEC4}"/>
              </a:ext>
            </a:extLst>
          </p:cNvPr>
          <p:cNvSpPr>
            <a:spLocks noGrp="1"/>
          </p:cNvSpPr>
          <p:nvPr/>
        </p:nvSpPr>
        <p:spPr>
          <a:xfrm>
            <a:off x="742950" y="2981325"/>
            <a:ext cx="194310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HDMI 渲染器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6C5C35-E204-40B1-95CE-6DBFCBB9085B}"/>
              </a:ext>
            </a:extLst>
          </p:cNvPr>
          <p:cNvSpPr>
            <a:spLocks noGrp="1"/>
          </p:cNvSpPr>
          <p:nvPr/>
        </p:nvSpPr>
        <p:spPr>
          <a:xfrm>
            <a:off x="2762250" y="2895600"/>
            <a:ext cx="409575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0FDA2B1-12A6-4CB6-8EB3-73B0FED6457F}"/>
              </a:ext>
            </a:extLst>
          </p:cNvPr>
          <p:cNvSpPr>
            <a:spLocks noGrp="1"/>
          </p:cNvSpPr>
          <p:nvPr/>
        </p:nvSpPr>
        <p:spPr>
          <a:xfrm>
            <a:off x="2838450" y="29813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run_xsim_hdmi_renderer.tcl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E982DFA-28F1-4234-AE9C-BCA8E9E99A62}"/>
              </a:ext>
            </a:extLst>
          </p:cNvPr>
          <p:cNvSpPr>
            <a:spLocks noGrp="1"/>
          </p:cNvSpPr>
          <p:nvPr/>
        </p:nvSpPr>
        <p:spPr>
          <a:xfrm>
            <a:off x="6858000" y="2895600"/>
            <a:ext cx="409575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811031-549A-4BF8-A25D-4311FD6D9243}"/>
              </a:ext>
            </a:extLst>
          </p:cNvPr>
          <p:cNvSpPr>
            <a:spLocks noGrp="1"/>
          </p:cNvSpPr>
          <p:nvPr/>
        </p:nvSpPr>
        <p:spPr>
          <a:xfrm>
            <a:off x="6934200" y="29813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HDMI_RENDER_TEST_PASS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261DDDE-9A4E-4180-87E8-131A99CFCC9F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2095500" cy="4572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57FEC08-4809-46B9-BD24-AEBC8CC4AC55}"/>
              </a:ext>
            </a:extLst>
          </p:cNvPr>
          <p:cNvSpPr>
            <a:spLocks noGrp="1"/>
          </p:cNvSpPr>
          <p:nvPr/>
        </p:nvSpPr>
        <p:spPr>
          <a:xfrm>
            <a:off x="742950" y="3438525"/>
            <a:ext cx="194310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HDMI 顶层 elaboration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996109E-A5F8-45A6-BF1A-37F3AADE6DEA}"/>
              </a:ext>
            </a:extLst>
          </p:cNvPr>
          <p:cNvSpPr>
            <a:spLocks noGrp="1"/>
          </p:cNvSpPr>
          <p:nvPr/>
        </p:nvSpPr>
        <p:spPr>
          <a:xfrm>
            <a:off x="2762250" y="3352800"/>
            <a:ext cx="4095750" cy="4572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88CDDEF-5BD7-4A1F-B774-A0673FE62947}"/>
              </a:ext>
            </a:extLst>
          </p:cNvPr>
          <p:cNvSpPr>
            <a:spLocks noGrp="1"/>
          </p:cNvSpPr>
          <p:nvPr/>
        </p:nvSpPr>
        <p:spPr>
          <a:xfrm>
            <a:off x="2838450" y="34385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run_xsim_ref_hdmi_static_elab.tcl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80864A7-9447-4C65-9479-6D1D7F61AD5E}"/>
              </a:ext>
            </a:extLst>
          </p:cNvPr>
          <p:cNvSpPr>
            <a:spLocks noGrp="1"/>
          </p:cNvSpPr>
          <p:nvPr/>
        </p:nvSpPr>
        <p:spPr>
          <a:xfrm>
            <a:off x="6858000" y="3352800"/>
            <a:ext cx="4095750" cy="4572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C390F72-4606-4579-95D5-179B3580FBEA}"/>
              </a:ext>
            </a:extLst>
          </p:cNvPr>
          <p:cNvSpPr>
            <a:spLocks noGrp="1"/>
          </p:cNvSpPr>
          <p:nvPr/>
        </p:nvSpPr>
        <p:spPr>
          <a:xfrm>
            <a:off x="6934200" y="34385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REF_HDMI_STATIC_ELAB_PASS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C01DA3E-EF79-4ECE-9BDF-6834B025E9D8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20955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97B6179-3D56-412A-BD43-2723BC8A3FBE}"/>
              </a:ext>
            </a:extLst>
          </p:cNvPr>
          <p:cNvSpPr>
            <a:spLocks noGrp="1"/>
          </p:cNvSpPr>
          <p:nvPr/>
        </p:nvSpPr>
        <p:spPr>
          <a:xfrm>
            <a:off x="742950" y="3895725"/>
            <a:ext cx="194310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综合检查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22D65E8-2948-4DD1-9297-C98E4D3EBE67}"/>
              </a:ext>
            </a:extLst>
          </p:cNvPr>
          <p:cNvSpPr>
            <a:spLocks noGrp="1"/>
          </p:cNvSpPr>
          <p:nvPr/>
        </p:nvSpPr>
        <p:spPr>
          <a:xfrm>
            <a:off x="2762250" y="3810000"/>
            <a:ext cx="409575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E593E3D-8A72-489E-A7B1-0E6C9D0BFB21}"/>
              </a:ext>
            </a:extLst>
          </p:cNvPr>
          <p:cNvSpPr>
            <a:spLocks noGrp="1"/>
          </p:cNvSpPr>
          <p:nvPr/>
        </p:nvSpPr>
        <p:spPr>
          <a:xfrm>
            <a:off x="2838450" y="38957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run_synth_ref_hdmi_static.tcl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4227E4A-584E-454D-9BDC-8BE300190AB1}"/>
              </a:ext>
            </a:extLst>
          </p:cNvPr>
          <p:cNvSpPr>
            <a:spLocks noGrp="1"/>
          </p:cNvSpPr>
          <p:nvPr/>
        </p:nvSpPr>
        <p:spPr>
          <a:xfrm>
            <a:off x="6858000" y="3810000"/>
            <a:ext cx="409575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44211F4-C08A-4913-8426-702666BF55D8}"/>
              </a:ext>
            </a:extLst>
          </p:cNvPr>
          <p:cNvSpPr>
            <a:spLocks noGrp="1"/>
          </p:cNvSpPr>
          <p:nvPr/>
        </p:nvSpPr>
        <p:spPr>
          <a:xfrm>
            <a:off x="6934200" y="3895725"/>
            <a:ext cx="3943350" cy="3429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 Errors / 0 Critical Warnings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635175A-5114-4BD9-8ED8-C4C0B8E8B01E}"/>
              </a:ext>
            </a:extLst>
          </p:cNvPr>
          <p:cNvSpPr>
            <a:spLocks noGrp="1"/>
          </p:cNvSpPr>
          <p:nvPr/>
        </p:nvSpPr>
        <p:spPr>
          <a:xfrm>
            <a:off x="1285875" y="4905375"/>
            <a:ext cx="9620250" cy="781050"/>
          </a:xfrm>
          <a:prstGeom prst="rect">
            <a:avLst/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A907F9F-E6CE-4E70-8196-564065245162}"/>
              </a:ext>
            </a:extLst>
          </p:cNvPr>
          <p:cNvSpPr>
            <a:spLocks noGrp="1"/>
          </p:cNvSpPr>
          <p:nvPr/>
        </p:nvSpPr>
        <p:spPr>
          <a:xfrm>
            <a:off x="1571625" y="5191125"/>
            <a:ext cx="9048750" cy="3238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575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测试覆盖重点：图像选择、块级方向输出、方向缓存读取、HDMI 像素渲染和顶层综合可行性。</a:t>
            </a:r>
          </a:p>
        </p:txBody>
      </p:sp>
    </p:spTree>
    <p:extLst>
      <p:ext uri="{BB962C8B-B14F-4D97-AF65-F5344CB8AC3E}">
        <p14:creationId xmlns:p14="http://schemas.microsoft.com/office/powerpoint/2010/main" val="1639819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1AACDBB-8CB1-4DF4-A9D9-B72C12EA1D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DD307C-D643-4A80-AF2C-ACB4EE75D000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8953500" cy="4572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项目演示流程与总结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1EB676-EAC7-47C9-96E5-EB7E246E9742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面向课堂答辩的操作顺序和当前阶段结论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309E3C-9AC7-4410-9DDC-5B751F728856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2000250" cy="381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F74687-3EA7-426D-8718-2E26ACCBEAAF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28625" cy="2286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5D44BA-9C08-4B3C-B896-9F8E4A49275A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4572000" cy="28575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3753D-C916-4E6D-AD70-CD36D23626A7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57150" cy="28575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E5FE75-3E48-42A6-B896-EB92535E94D0}"/>
              </a:ext>
            </a:extLst>
          </p:cNvPr>
          <p:cNvSpPr>
            <a:spLocks noGrp="1"/>
          </p:cNvSpPr>
          <p:nvPr/>
        </p:nvSpPr>
        <p:spPr>
          <a:xfrm>
            <a:off x="971550" y="1695450"/>
            <a:ext cx="424815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演示流程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7C566-C4DE-4CA3-AB18-3D7B9870B9A3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4229100" cy="22098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打开 fingerprint_direction_fpga.xpr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确认顶层 fingerprint_ref_hdmi_static_top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重新综合/实现/生成 bitstream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Program Device 后连接 HDMI 采集卡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OBS 中观察灰度图 + 红色方向线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切换 SW[1:0] 展示三张不同指纹图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4ECEEF-0C68-4BA3-83B5-A295A9F9A315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4572000" cy="28575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C1E2A9-40C8-43E5-8B9B-37525FD07A24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57150" cy="28575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112FC6-DE3F-408B-BBAF-98FA71C1B155}"/>
              </a:ext>
            </a:extLst>
          </p:cNvPr>
          <p:cNvSpPr>
            <a:spLocks noGrp="1"/>
          </p:cNvSpPr>
          <p:nvPr/>
        </p:nvSpPr>
        <p:spPr>
          <a:xfrm>
            <a:off x="6400800" y="1695450"/>
            <a:ext cx="424815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阶段总结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04ED58-51D4-4210-B9DA-FC1559E9487A}"/>
              </a:ext>
            </a:extLst>
          </p:cNvPr>
          <p:cNvSpPr>
            <a:spLocks noGrp="1"/>
          </p:cNvSpPr>
          <p:nvPr/>
        </p:nvSpPr>
        <p:spPr>
          <a:xfrm>
            <a:off x="6400800" y="2057400"/>
            <a:ext cx="4229100" cy="22098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已完成静态图像到 HDMI 可视化的完整链路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方向场显示遵循指纹脊线切向方向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Sobel、CORDIC 和区域统计模块可复用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当前不足：输入仍是片上 ROM，方向量化为 8 档</a:t>
            </a:r>
          </a:p>
          <a:p>
            <a:pPr algn="l">
              <a:lnSpc>
                <a:spcPct val="115000"/>
              </a:lnSpc>
              <a:buNone/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后续真实视频接入时重点处理摄像头、DDR3 和帧缓存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2709-B620-4E74-9246-9121F257EB29}"/>
              </a:ext>
            </a:extLst>
          </p:cNvPr>
          <p:cNvSpPr>
            <a:spLocks noGrp="1"/>
          </p:cNvSpPr>
          <p:nvPr/>
        </p:nvSpPr>
        <p:spPr>
          <a:xfrm>
            <a:off x="1714500" y="5095875"/>
            <a:ext cx="8667750" cy="5524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F9E760-780C-4E45-B18E-3F7E03358C9F}"/>
              </a:ext>
            </a:extLst>
          </p:cNvPr>
          <p:cNvSpPr>
            <a:spLocks noGrp="1"/>
          </p:cNvSpPr>
          <p:nvPr/>
        </p:nvSpPr>
        <p:spPr>
          <a:xfrm>
            <a:off x="1952625" y="5257800"/>
            <a:ext cx="8191500" cy="2476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当前项目已经跑通核心算法链路和</a:t>
            </a:r>
            <a:r>
              <a:rPr sz="1500" b="1" i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HDMI </a:t>
            </a:r>
            <a:r>
              <a:rPr sz="1500" b="1" i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显示路径，为后续真实指纹图像接入打下基础</a:t>
            </a:r>
            <a:r>
              <a:rPr sz="1500" b="1" i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931349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DocSecurity>0</DocSecurity>
  <PresentationFormat>宽屏</PresentationFormat>
  <Paragraphs>231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happymiemie02@gmail.com</cp:lastModifiedBy>
  <cp:revision>1</cp:revision>
  <dcterms:created xsi:type="dcterms:W3CDTF">2026-06-09T03:42:38Z</dcterms:created>
  <dcterms:modified xsi:type="dcterms:W3CDTF">2026-06-09T04:02:24Z</dcterms:modified>
</cp:coreProperties>
</file>